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508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E1EDF1"/>
                </a:solidFill>
                <a:latin typeface="맑은 고딕"/>
                <a:ea typeface="맑은 고딕"/>
              </a:rPr>
              <a:t>PPT 4 · 학습자료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</a:rPr>
              <a:t>Python 서버 통합 설계와
Mock Controller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E1EDF1"/>
                </a:solidFill>
                <a:latin typeface="맑은 고딕"/>
                <a:ea typeface="맑은 고딕"/>
              </a:rPr>
              <a:t>지금까지 배운 것을 하나로 묶어, 실제 실행되는 코드로 확인한다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i="0">
                <a:solidFill>
                  <a:srgbClr val="CFE3EA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429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맑은 고딕"/>
                <a:ea typeface="맑은 고딕"/>
              </a:rPr>
              <a:t>지금 서버(Final_Ver07)는 어떻게 되어 있나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01. 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AdminServer 한 클래스가 하는 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구성 요소</a:t>
                      </a:r>
                    </a:p>
                  </a:txBody>
                  <a:tcPr anchor="ctr">
                    <a:solidFill>
                      <a:srgbClr val="2F6A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</a:p>
                  </a:txBody>
                  <a:tcPr anchor="ctr">
                    <a:solidFill>
                      <a:srgbClr val="2F6A8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TCP 릴레이 허브 (5000번 포트)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3abb/4abb/5abb/amr 중계기 접속을 받아 라우팅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UDP 디스커버리 응답기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노트북 IP가 바뀌어도 장치가 서버를 자동으로 찾게 함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Flask 웹 서버 (8080번 포트)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/api/stream 으로 SSE 실시간 로그 push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생산 오케스트레이션 스레드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Start부터 2회 생산 완료까지 흐름 관리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픽업 도착 매칭 스레드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ReadyForPickup과 AMR 도착 신호를 스테이션별로 매칭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4343400"/>
            <a:ext cx="10881360" cy="1005840"/>
          </a:xfrm>
          <a:prstGeom prst="rect">
            <a:avLst/>
          </a:prstGeom>
          <a:solidFill>
            <a:srgbClr val="E1EDF1"/>
          </a:solidFill>
          <a:ln w="9525">
            <a:solidFill>
              <a:srgbClr val="2F6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300" b="0" i="1">
                <a:solidFill>
                  <a:srgbClr val="2F6A86"/>
                </a:solidFill>
                <a:latin typeface="맑은 고딕"/>
                <a:ea typeface="맑은 고딕"/>
              </a:rPr>
              <a:t>💡 부족한 점: 상태가 전부 인메모리(재시작하면 이력 소실), AMR 도착 판정이 STATUS 로그 파싱 기반, 공정판(상태 시각화) 부재 — 앞선 학습 자료(Server_Architecture_Study.docx) 2부에서 이미 분석함.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i="0">
                <a:solidFill>
                  <a:srgbClr val="CFE3EA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429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맑은 고딕"/>
                <a:ea typeface="맑은 고딕"/>
              </a:rPr>
              <a:t>제안 아키텍처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02.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폴더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core/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상태 머신 + 이벤트 로그 스키마 + replay 엔진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protocol/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COMMAND/EVENT/STATUS/ACK/ERROR 파싱, 메시지 프레이밍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devices/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3abb/4abb/5abb/amr 릴레이 핸들러 + 장치별 상태 머신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orchestration/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ISA-88의 '레시피 실행 계층' — run_id 발급, 스테이션 매칭, 다음 명령 결정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orchestration/amr_broker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AMR을 '공유 자원'으로 모델링(우선순위 큐 인터록)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storage/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SQLite 기반 append-only 이벤트 로그 (이벤트 소싱)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web/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Flask + SSE, 공정 흐름도 기반 실시간 상태판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257800"/>
            <a:ext cx="10881360" cy="1051560"/>
          </a:xfrm>
          <a:prstGeom prst="rect">
            <a:avLst/>
          </a:prstGeom>
          <a:solidFill>
            <a:srgbClr val="E1EDF1"/>
          </a:solidFill>
          <a:ln w="9525">
            <a:solidFill>
              <a:srgbClr val="2F6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350" b="0" i="1">
                <a:solidFill>
                  <a:srgbClr val="2F6A86"/>
                </a:solidFill>
                <a:latin typeface="맑은 고딕"/>
                <a:ea typeface="맑은 고딕"/>
              </a:rPr>
              <a:t>💡 이 구조의 근거(ISA-88, 이벤트 소싱, Open-Industry-Project 등)는 Server_Architecture_Study.docx 3부·4부에 자세히 있습니다 — 이 PPT는 그 요약입니다.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i="0">
                <a:solidFill>
                  <a:srgbClr val="CFE3EA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429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맑은 고딕"/>
                <a:ea typeface="맑은 고딕"/>
              </a:rPr>
              <a:t>이벤트 소싱을 코드로 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03. storage/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가장 단순한 이벤트 로그 테이블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881360" cy="4480560"/>
          </a:xfrm>
          <a:prstGeom prst="rect">
            <a:avLst/>
          </a:prstGeom>
          <a:solidFill>
            <a:srgbClr val="1B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/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CREATE TABLE event_log (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   id INTEGER PRIMARY KEY AUTOINCREMENT,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   ts TEXT NOT NULL,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   source TEXT NOT NULL,       -- '3abb' | '5abb' | 'amr' | 'server'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   raw_message TEXT NOT NULL,  -- 원문 그대로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   run_id TEXT,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   station TEXT,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   unit INTEGER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);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-- '현재 상태'는 저장하지 않는다.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-- 필요할 때 이 로그를 처음부터 재생(replay)해서 계산한다.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555F68"/>
                </a:solidFill>
                <a:latin typeface="맑은 고딕"/>
                <a:ea typeface="맑은 고딕"/>
              </a:rPr>
              <a:t>서버가 재시작해도, 이 표를 처음부터 다시 읽기만 하면 진행 중이던 생산 상태가 복구된다.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i="0">
                <a:solidFill>
                  <a:srgbClr val="CFE3EA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429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맑은 고딕"/>
                <a:ea typeface="맑은 고딕"/>
              </a:rPr>
              <a:t>Mock Controller 코드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04. 코드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오늘 실제로 작성하고 테스트까지 통과한 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protocol.py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LineFramer(메시지 프레이밍) + parse_message(EVENT/COMMAND 파싱)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orchestrator.py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PickupMatcher — 1차 프로젝트 핵심 사고(반납 도착이 픽업으로 오인된 문제)를 막는 로직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mock_station.py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3abb/5abb를 흉내내는 독립 실행형 TCP 서버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tests/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13개 테스트, 전부 통과 (python -m pytest -v)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257800"/>
            <a:ext cx="10881360" cy="1051560"/>
          </a:xfrm>
          <a:prstGeom prst="rect">
            <a:avLst/>
          </a:prstGeom>
          <a:solidFill>
            <a:srgbClr val="E1EDF1"/>
          </a:solidFill>
          <a:ln w="9525">
            <a:solidFill>
              <a:srgbClr val="2F6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350" b="0" i="1">
                <a:solidFill>
                  <a:srgbClr val="2F6A86"/>
                </a:solidFill>
                <a:latin typeface="맑은 고딕"/>
                <a:ea typeface="맑은 고딕"/>
              </a:rPr>
              <a:t>💡 위치: Next_Automotive_Automation/study/code/ — README.md에 실행법이 있습니다. DOCX 2(실습 워크북)에서 이 코드로 직접 실습합니다.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04. 코드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PickupMatcher 핵심 로직 (실제 코드)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881360" cy="4480560"/>
          </a:xfrm>
          <a:prstGeom prst="rect">
            <a:avLst/>
          </a:prstGeom>
          <a:solidFill>
            <a:srgbClr val="1B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/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def on_arrival(self, ev: ArrivalEvent):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   if ev.purpose != "pickup":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       return None  # RETURN_ARRIVED는 절대 허가로 이어지지 않는다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   if ev.run_id != self._current_run_id: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       return None  # 이전 세대의 늦은 메시지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   ready = self._pending_ready.get((ev.station, ev.run_id))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   if ready is None or ready.unit != ev.unit: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       return None  # 매칭 안 됨 / 다른 차량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   if (ev.station, ev.unit, ev.run_id) in self._granted: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       return None  # 중복 — 이미 허가함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   self._granted.add((ev.station, ev.unit, ev.run_id))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    return (ev.station, ev.unit)  # 여기서만 허가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555F68"/>
                </a:solidFill>
                <a:latin typeface="맑은 고딕"/>
                <a:ea typeface="맑은 고딕"/>
              </a:rPr>
              <a:t>정보가 하나라도 불확실하면 허가하지 않는다 — fail-closed 원칙.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i="0">
                <a:solidFill>
                  <a:srgbClr val="CFE3EA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429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맑은 고딕"/>
                <a:ea typeface="맑은 고딕"/>
              </a:rPr>
              <a:t>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05. 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학습 자료를 다 본 뒤 할 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실제 PLC 모델·I/O 주소, 아일랜드 서보 사양 등 미확정 사항을 팀과 함께 확정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SYSTEM_REQUIREMENTS.md → ARCHITECTURE.md → PROTOCOL.md → STATE_MACHINES.md → IO_MAP.md 순서로 설계 문서 작성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Mock Controller를 확장해서 실제 orchestration/ 코드의 기반으로 발전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RWS 보강 여부, EGM 필요 여부는 실제 컨트롤러 옵션 확인 후 결정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