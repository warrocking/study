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08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1EDF1"/>
                </a:solidFill>
                <a:latin typeface="맑은 고딕"/>
                <a:ea typeface="맑은 고딕"/>
              </a:rPr>
              <a:t>PPT 1 · 학습자료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RAPID 언어와 ABB 로봇
프로그래밍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E1EDF1"/>
                </a:solidFill>
                <a:latin typeface="맑은 고딕"/>
                <a:ea typeface="맑은 고딕"/>
              </a:rPr>
              <a:t>3abb / 4abb / 5abb를 직접 프로그래밍하기 위해 필요한 RAPID 문법과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ABB 로봇과 RAPID, RobotStudio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01.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ABB 로봇 컨트롤러 세대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IRC5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오랫동안 ABB의 주력 컨트롤러 세대. RobotWare 6 계열이 여기서 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OmniCore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IRC5의 후속 세대 컨트롤러. RobotWare 7·8 계열이 여기서 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RAPID 언어 자체는 두 세대에서 거의 공통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MODULE/PROC/MoveL 같은 핵심 문법은 그대로 유지된다. 다만 RWS(3부 참고) 같은 주변 API 지원은 세대마다 차이가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우리 프로젝트의 실제 컨트롤러 모델은 아직 확정되지 않음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이 자료는 RAPID 언어 표준 문법을 다루며, 특정 컨트롤러 세대에만 있는 기능은 그때그때 표시한다.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학습 자료 6부(참고자료)에 정확히 어떤 항목이 '공식 문서로 확인됨'이고 어떤 항목이 '확인 안 됨'인지 표시돼 있다. 실습 전엔 실제 컨트롤러의 FlexPendant → System Info에서 버전을 직접 확인하자.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01.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RobotStudio와 Virtual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RobotStudio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PC에서 로봇 프로그램(RAPID)을 오프라인으로 작성·시뮬레이션하는 ABB 공식 소프트웨어. 실제 로봇 없이도 3D 시뮬레이션으로 동작을 미리 확인할 수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Virtual Controller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RobotStudio 안에서 실제 컨트롤러 소프트웨어를 그대로 흉내내는 가상 환경. RAPID 코드를 실기 없이 실행·디버깅할 수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우리 팀의 실제 작업 방식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project.mod 같은 파일을 RobotStudio에서 직접 좌표 티칭하며 갱신하는 방식(RobotStudio/CLAUDE.md에 이미 기록된 워크플로).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Task · Module · PROC · FUNC ·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프로그램의 기본 뼈대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Task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컨트롤러가 실행하는 프로그램 실행 단위. 보통 로봇 하나에 기본 Task(T_ROB1 등) 하나.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MODULE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RAPID 소스 파일의 최상위 단위. 우리 project.mod의 'MainModule'이 그 예.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PROC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값을 반환하지 않는 프로시저(절차). 로봇 동작·신호 제어 등 대부분의 로직이 여기 들어간다.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FUNC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값을 반환하는 함수. 계산이나 조건 판단에 사용.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TRAP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인터럽트(신호 변화 등)가 발생했을 때 실행되는 특수 루틴. 8절 에러 처리에서 자세히 다룬다.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RobotStudio/CLAUDE.md의 컨벤션: MODULE=0칸, VAR/PROC/ENDPROC=4칸, PROC 본문=8칸, 중첩마다 +4칸 — 이 문서 전체가 이 들여쓰기 규칙을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최소 구조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MODULE MainModule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VAR num processCount := 0;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PROC Main()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Init;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WHILE TRUE DO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    RunOneCycle;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ENDWHILE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ENDPROC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PROC Init()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processCount := 0;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ENDPROC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ENDMODULE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MODULE 안에 VAR(전역변수)와 여러 PROC이 들어가는 전형적인 구조.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변수와 자료형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변수 저장 종류 (Storage Type)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값이 유지되는 범위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VAR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일반 변수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프로그램 재시작(리셋) 시 선언값으로 초기화됨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PERS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영구 변수(Persistent)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컨트롤러 전원을 꺼도 마지막 값이 유지됨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CONST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상수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실행 중 절대 변경 불가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0" i="1">
                <a:solidFill>
                  <a:srgbClr val="2F6A86"/>
                </a:solidFill>
                <a:latin typeface="맑은 고딕"/>
                <a:ea typeface="맑은 고딕"/>
              </a:rPr>
              <a:t>💡 5abb의 do16_Dilivery_Start 같은 '이번 생산 중에는 유지되어야 하는 값'은 PERS로, 매 사이클 리셋돼야 하는 카운터는 VAR로 선언하는 식으로 구분해서 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자주 쓰는 자료형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자료형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num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숫자(실수)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bool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TRUE/FALSE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문자열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robtarget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로봇 위치+자세(좌표) 데이터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speeddata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속도 정의(TCP 속도, 방향 전환 속도 등)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zonedata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코너 경로 반경(다음 절 참고)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tooldata / wobjdata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툴(엔드이펙터) / 작업물 좌표계 정의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동작 명령: MoveJ · MoveL · MoveC · MoveAbsJ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네 가지 이동 명령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4352544"/>
                <a:gridCol w="435254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명령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경로 형태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언제 쓰나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MoveJ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각 축이 동시에 목표에 도달 (경로가 곡선일 수 있음)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장애물 없는 큰 이동, 순수 회전 동작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MoveL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TCP(툴 끝점)가 직선으로 이동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정밀한 직선 작업 (조립, 용접선 등)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MoveC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TCP가 원호를 그리며 이동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곡선 궤적이 필요한 작업 (예: 도색 동작)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MoveAbsJ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각 관절 각도를 절대값으로 직접 지정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홈 포지션 복귀 등 좌표계 무관 이동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886200"/>
            <a:ext cx="10881360" cy="100584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0" i="1">
                <a:solidFill>
                  <a:srgbClr val="2F6A86"/>
                </a:solidFill>
                <a:latin typeface="맑은 고딕"/>
                <a:ea typeface="맑은 고딕"/>
              </a:rPr>
              <a:t>💡 RobotStudio/CLAUDE.md 실측 교훈: 위치가 안 바뀌는 순수 회전은 MoveJ가 더 안전 — ABB 손목 특이점(axis5=0) 근처에서 MoveL로 큰 각도 회전을 시키면 축4/6이 급격히 재구성되며 튈 수 있다. 반대로 냉각 스윕처럼 미세한 곡선 궤적이 필요하면 여러 각도를 실기로 비교해 MoveL을 확정하기도 했다 — 일반 규칙이 아니라 위치마다 실측 검증이 필요하다.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이동 명령 문법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MoveL p_pickApproach, v200, z10, tool1\WObj:=wobj1;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MoveL p_pickPoint, v50, fine, tool1\WObj:=wobj1;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Grip_on;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MoveJ p_home, v_fast, z50, tool1;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robtarget, speeddata, zonedata, tooldata를 순서대로 넘긴다 — 4·5·6부에서 각각 다룬다.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좌표계: robtarget · Tool · WorkObject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05. 좌표계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"어디를, 무엇 기준으로"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robtarget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위치(x,y,z)와 자세(쿼터니언)를 담은 좌표 데이터. RobotStudio에서 티칭할 때 실제로 저장되는 값.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Tool (tooldata)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로봇 플랜지 끝에 달린 툴(그리퍼, 용접 툴 등)의 기준점을 정의. 툴이 바뀌면 같은 robtarget도 실제 도달 위치가 달라진다.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WorkObject (wobjdata)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작업 대상(컨베이어, 지그 등)의 기준 좌표계. 작업물이 이동/회전해도 WorkObject만 갱신하면 좌표를 다시 안 찍어도 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우리 프로젝트에서 tool1(비드코팅용)과 tool2(원형 스프레이용)처럼 공정마다 다른 툴을 쓰면, 같은 로직이라도 반드시 맞는 tool을 지정해야 한다 — RobotStudio/CLAUDE.md의 '그리퍼는 용도에 따라 의미가 반대'라는 주의사항도 같은 맥락.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속도, Zone, Configuration, External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06. 파라미터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동작을 정밀하게 조절하는 파라미터들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speeddata (v50, v200, v_fast 등)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TCP 이동 속도(mm/s)와 회전 속도를 정의.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zonedata (z10, z50, fine)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다음 목표로 넘어갈 때 얼마나 '둥글게' 지나갈지 정의. fine은 정확히 그 지점에 도달한 뒤 완전히 멈춤(정밀 작업에 필요하지만 느려짐).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Configuration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같은 robtarget이라도 관절이 여러 자세로 도달할 수 있는데, 그중 어떤 자세를 쓸지 정의(\Conf 매개변수). 특이점 근처에서 예상 못한 자세 변화를 막는 데 중요.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External Axis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로봇 팔 자체가 아닌 외부 축(회전 테이블, 리니어 트랙, 우리 프로젝트의 서보모터 '아일랜드' 등)을 로봇 좌표계와 함께 제어.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2차 프로젝트의 '아일랜드' 서보모터가 로봇과 동기화된 External Axis로 다뤄질지, 아니면 PLC가 독립 제어할지는 아직 미확정 — 이 결정이 RAPID 쪽 설계에 큰 영향을 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디지털/아날로그 I/O와 PLC 핸드셰이크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07.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I/O 신호 읽고 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! 신호 읽기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IF di05_PLC_PlateReady = 1 THEN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Car_Delivery;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ENDIF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! 신호 펄스 출력 (0.2초간 켰다가 자동으로 끔)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PulseDO \PLength := 0.2, do05_Body_Docking_Done;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! 신호가 바뀔 때까지 대기 (타임아웃 없이!)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WaitDI di05_PLC_PlateReady,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di = 디지털 입력, do = 디지털 출력. 이름에 의미를 담는 컨벤션(di05_PLC_PlateReady)이 나중에 IO_MAP.md 없이도 코드만으로 어느 정도 이해 가능하게 해준다.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07.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PLC 핸드셰이크의 핵심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확인 신호와 실행 신호를 분리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1차 프로젝트 최대 교훈. '완료 확인'용 DO와 '출고 실행'용 DO를 같은 핀으로 겸용하면, 배선 단계에서 소프트웨어 게이팅이 통째로 무력화될 수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WaitDI에 타임아웃을 걸지 결정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신호마다 다르다. '20초 기다리다 안 오면 넘어가도 안전'한 신호가 있고, '안 오면 절대 넘어가면 안 되는'(사고 위험) 신호가 있다. PLC 담당자와 신호별로 미리 정의해야 한다.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실제 I/O 주소는 절대 가정하지 않기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이전 프로젝트 번호(do05 등)를 새 프로젝트에 그대로 재사용하지 말고, 매번 IO_MAP.md로 재확인.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인터럽트, 오류 처리, 재시도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08. 에러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TRAP과 RAISE를 이용한 에러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PROC Main()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CONNECT plateSensorLost WITH HandlePlateLost;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ISignalDI di05_PLC_PlateReady, 0, plateSensorLost;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...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ERROR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IF ERRNO = ERR_WAITDI THEN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TPWrite "Plate sensor timeout - retrying";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RETRY;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ENDIF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ENDPROC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TRAP HandlePlateLost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TPWrite "Plate sensor dropped unexpectedly";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ENDTRAP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ERROR 핸들러 안의 RETRY는 실패한 지점부터 다시 시도 — 무한 재시도가 되지 않도록 횟수 제한을 두는 것이 안전하다.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08. 에러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지금까지 실제로 겪은 미해결 이슈 (RobotStudio/CLAUDE.md 기록)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Grip_on/Grip_off가 WaitDI에 타임아웃이 없어서, 센서가 응답하지 않으면 로봇이 무한정 멈춘다 — 아직 미해결.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불량 타이어(CASE 2/3/4) 처리 로직이 비어있어 두 번째 불량부터 그리퍼가 안 놓이는 버그가 실제로 남아있다.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이 문서는 '이미 완벽한 예시'가 아니라 실제 프로젝트에서 발견된 미해결 이슈까지 있는 그대로 담았다 — 다음 프로젝트에서 반복하지 않기 위한 참고용.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읽기 좋은 RAPID 프로그램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09. 컨벤션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우리 프로젝트의 코드 컨벤션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주석은 영어로만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RobotStudio가 저장할 때 한글 주석을 깨뜨리거나 지워버리는 문제를 여러 번 겪은 뒤 정착된 규칙.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들여쓰기 4칸 단계별 증가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MODULE=0, VAR/PROC/ENDPROC=4, 본문=8, 중첩마다 +4.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의미 중심 이름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FWD/REV 같은 방향 이름 대신 LOAD_FROM_STATION, UNLOAD_TO_STATION처럼 '목적'이 드러나는 이름을 쓴다(1차 프로젝트에서 FWD/REV 표기와 실제 정/역구동이 반대로 헷갈린 경험 때문).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SendLine류 공용 함수로 개행 강제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SocketSend에 매번 \0D\0A를 챙기는 대신, 공용 프로시저 하나로 묶어서 실수를 원천 차단.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