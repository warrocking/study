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50800"/>
          </a:xfrm>
          <a:prstGeom prst="rect">
            <a:avLst/>
          </a:prstGeom>
          <a:solidFill>
            <a:srgbClr val="2F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i="0">
                <a:solidFill>
                  <a:srgbClr val="E1EDF1"/>
                </a:solidFill>
                <a:latin typeface="맑은 고딕"/>
                <a:ea typeface="맑은 고딕"/>
              </a:rPr>
              <a:t>PPT 2 · 학습자료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맑은 고딕"/>
                <a:ea typeface="맑은 고딕"/>
              </a:rPr>
              <a:t>네트워킹 기초
TCP/IP부터 Tailscale까지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E1EDF1"/>
                </a:solidFill>
                <a:latin typeface="맑은 고딕"/>
                <a:ea typeface="맑은 고딕"/>
              </a:rPr>
              <a:t>3대의 ABB, PLC, AMR, 중앙 서버가 서로 다른 Wi-Fi 위에서 어떻게 통신하는가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 i="0">
                <a:solidFill>
                  <a:srgbClr val="CFE3EA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4290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맑은 고딕"/>
                <a:ea typeface="맑은 고딕"/>
              </a:rPr>
              <a:t>IP · 서브넷 · 게이트웨이 · 포트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55F68"/>
                </a:solidFill>
                <a:latin typeface="맑은 고딕"/>
                <a:ea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F6A86"/>
                </a:solidFill>
                <a:latin typeface="맑은 고딕"/>
                <a:ea typeface="맑은 고딕"/>
              </a:rPr>
              <a:t>01. 기초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B2A3C"/>
                </a:solidFill>
                <a:latin typeface="맑은 고딕"/>
                <a:ea typeface="맑은 고딕"/>
              </a:rPr>
              <a:t>네트워크 주소의 기본 단위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1" i="0">
                <a:solidFill>
                  <a:srgbClr val="1B2A3C"/>
                </a:solidFill>
                <a:latin typeface="맑은 고딕"/>
                <a:ea typeface="맑은 고딕"/>
              </a:rPr>
              <a:t>IP 주소 —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네트워크 위의 장치를 구분하는 고유 번호(예: 192.168.3.3). 사람의 '집 주소'와 비슷하다.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1" i="0">
                <a:solidFill>
                  <a:srgbClr val="1B2A3C"/>
                </a:solidFill>
                <a:latin typeface="맑은 고딕"/>
                <a:ea typeface="맑은 고딕"/>
              </a:rPr>
              <a:t>서브넷(Subnet) —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같은 네트워크 안에 있다고 취급되는 IP 주소들의 묶음. 서브넷 마스크로 그 범위를 정한다.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1" i="0">
                <a:solidFill>
                  <a:srgbClr val="1B2A3C"/>
                </a:solidFill>
                <a:latin typeface="맑은 고딕"/>
                <a:ea typeface="맑은 고딕"/>
              </a:rPr>
              <a:t>게이트웨이(Gateway) —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서브넷 밖(예: 인터넷)으로 나가는 통로 역할을 하는 장치, 보통 공유기.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1" i="0">
                <a:solidFill>
                  <a:srgbClr val="1B2A3C"/>
                </a:solidFill>
                <a:latin typeface="맑은 고딕"/>
                <a:ea typeface="맑은 고딕"/>
              </a:rPr>
              <a:t>포트(Port) —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같은 IP 안에서 '어떤 프로그램이 받을지'를 구분하는 번호(0~65535). 우리 서버가 5000번 포트로 로봇·AMR을 받고, 8080번 포트로 웹 화면을 제공하는 것과 같은 개념.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257800"/>
            <a:ext cx="10881360" cy="1051560"/>
          </a:xfrm>
          <a:prstGeom prst="rect">
            <a:avLst/>
          </a:prstGeom>
          <a:solidFill>
            <a:srgbClr val="E1EDF1"/>
          </a:solidFill>
          <a:ln w="9525">
            <a:solidFill>
              <a:srgbClr val="2F6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350" b="0" i="1">
                <a:solidFill>
                  <a:srgbClr val="2F6A86"/>
                </a:solidFill>
                <a:latin typeface="맑은 고딕"/>
                <a:ea typeface="맑은 고딕"/>
              </a:rPr>
              <a:t>💡 1차 프로젝트에서 겪은 문제: 중앙 서버 노트북이 다른 Wi-Fi에 붙었다가 생산용 Wi-Fi에 재접속하면 DHCP로 IP가 바뀔 수 있었다. Arduino에 서버 IP를 하드코딩해두면 이때 연결이 끊긴다.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55F68"/>
                </a:solidFill>
                <a:latin typeface="맑은 고딕"/>
                <a:ea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 i="0">
                <a:solidFill>
                  <a:srgbClr val="CFE3EA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4290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맑은 고딕"/>
                <a:ea typeface="맑은 고딕"/>
              </a:rPr>
              <a:t>TCP와 UDP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55F68"/>
                </a:solidFill>
                <a:latin typeface="맑은 고딕"/>
                <a:ea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F6A86"/>
                </a:solidFill>
                <a:latin typeface="맑은 고딕"/>
                <a:ea typeface="맑은 고딕"/>
              </a:rPr>
              <a:t>02. 전송 계층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B2A3C"/>
                </a:solidFill>
                <a:latin typeface="맑은 고딕"/>
                <a:ea typeface="맑은 고딕"/>
              </a:rPr>
              <a:t>연결 지향 vs 비연결형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5257800" cy="502920"/>
          </a:xfrm>
          <a:prstGeom prst="rect">
            <a:avLst/>
          </a:prstGeom>
          <a:solidFill>
            <a:srgbClr val="2F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TCP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74520"/>
            <a:ext cx="5257800" cy="4206240"/>
          </a:xfrm>
          <a:prstGeom prst="rect">
            <a:avLst/>
          </a:prstGeom>
          <a:solidFill>
            <a:srgbClr val="F6F8F9"/>
          </a:solidFill>
          <a:ln w="9525">
            <a:solidFill>
              <a:srgbClr val="D5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37160"/>
          <a:lstStyle/>
          <a:p>
            <a:pPr algn="ctr">
              <a:spcAft>
                <a:spcPts val="1000"/>
              </a:spcAft>
            </a:pPr>
            <a:r>
              <a:rPr sz="1400" b="1" i="0">
                <a:solidFill>
                  <a:srgbClr val="2F6A86"/>
                </a:solidFill>
                <a:latin typeface="맑은 고딕"/>
                <a:ea typeface="맑은 고딕"/>
              </a:rPr>
              <a:t>•  </a:t>
            </a:r>
            <a:r>
              <a:rPr sz="1350" b="0" i="0">
                <a:solidFill>
                  <a:srgbClr val="333A40"/>
                </a:solidFill>
                <a:latin typeface="맑은 고딕"/>
                <a:ea typeface="맑은 고딕"/>
              </a:rPr>
              <a:t>연결을 먼저 맺고(3-way handshake) 통신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2F6A86"/>
                </a:solidFill>
                <a:latin typeface="맑은 고딕"/>
                <a:ea typeface="맑은 고딕"/>
              </a:rPr>
              <a:t>•  </a:t>
            </a:r>
            <a:r>
              <a:rPr sz="1350" b="0" i="0">
                <a:solidFill>
                  <a:srgbClr val="333A40"/>
                </a:solidFill>
                <a:latin typeface="맑은 고딕"/>
                <a:ea typeface="맑은 고딕"/>
              </a:rPr>
              <a:t>순서 보장 + 도착 보장(재전송)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2F6A86"/>
                </a:solidFill>
                <a:latin typeface="맑은 고딕"/>
                <a:ea typeface="맑은 고딕"/>
              </a:rPr>
              <a:t>•  </a:t>
            </a:r>
            <a:r>
              <a:rPr sz="1350" b="0" i="0">
                <a:solidFill>
                  <a:srgbClr val="333A40"/>
                </a:solidFill>
                <a:latin typeface="맑은 고딕"/>
                <a:ea typeface="맑은 고딕"/>
              </a:rPr>
              <a:t>느리지만 신뢰성이 필요한 데이터에 적합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2F6A86"/>
                </a:solidFill>
                <a:latin typeface="맑은 고딕"/>
                <a:ea typeface="맑은 고딕"/>
              </a:rPr>
              <a:t>•  </a:t>
            </a:r>
            <a:r>
              <a:rPr sz="1350" b="0" i="0">
                <a:solidFill>
                  <a:srgbClr val="333A40"/>
                </a:solidFill>
                <a:latin typeface="맑은 고딕"/>
                <a:ea typeface="맑은 고딕"/>
              </a:rPr>
              <a:t>우리 서버 ↔ ABB/PLC/AMR 릴레이 통신이 TCP 기반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371600"/>
            <a:ext cx="5257800" cy="502920"/>
          </a:xfrm>
          <a:prstGeom prst="rect">
            <a:avLst/>
          </a:prstGeom>
          <a:solidFill>
            <a:srgbClr val="B379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맑은 고딕"/>
                <a:ea typeface="맑은 고딕"/>
              </a:rPr>
              <a:t>UDP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874520"/>
            <a:ext cx="5257800" cy="4206240"/>
          </a:xfrm>
          <a:prstGeom prst="rect">
            <a:avLst/>
          </a:prstGeom>
          <a:solidFill>
            <a:srgbClr val="F6F8F9"/>
          </a:solidFill>
          <a:ln w="9525">
            <a:solidFill>
              <a:srgbClr val="D5D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37160"/>
          <a:lstStyle/>
          <a:p>
            <a:pPr algn="ctr">
              <a:spcAft>
                <a:spcPts val="1000"/>
              </a:spcAft>
            </a:pPr>
            <a:r>
              <a:rPr sz="1400" b="1" i="0">
                <a:solidFill>
                  <a:srgbClr val="B3791A"/>
                </a:solidFill>
                <a:latin typeface="맑은 고딕"/>
                <a:ea typeface="맑은 고딕"/>
              </a:rPr>
              <a:t>•  </a:t>
            </a:r>
            <a:r>
              <a:rPr sz="1350" b="0" i="0">
                <a:solidFill>
                  <a:srgbClr val="333A40"/>
                </a:solidFill>
                <a:latin typeface="맑은 고딕"/>
                <a:ea typeface="맑은 고딕"/>
              </a:rPr>
              <a:t>연결 없이 그냥 보냄(빠름)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B3791A"/>
                </a:solidFill>
                <a:latin typeface="맑은 고딕"/>
                <a:ea typeface="맑은 고딕"/>
              </a:rPr>
              <a:t>•  </a:t>
            </a:r>
            <a:r>
              <a:rPr sz="1350" b="0" i="0">
                <a:solidFill>
                  <a:srgbClr val="333A40"/>
                </a:solidFill>
                <a:latin typeface="맑은 고딕"/>
                <a:ea typeface="맑은 고딕"/>
              </a:rPr>
              <a:t>순서·도착 보장 없음 — 유실될 수 있음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B3791A"/>
                </a:solidFill>
                <a:latin typeface="맑은 고딕"/>
                <a:ea typeface="맑은 고딕"/>
              </a:rPr>
              <a:t>•  </a:t>
            </a:r>
            <a:r>
              <a:rPr sz="1350" b="0" i="0">
                <a:solidFill>
                  <a:srgbClr val="333A40"/>
                </a:solidFill>
                <a:latin typeface="맑은 고딕"/>
                <a:ea typeface="맑은 고딕"/>
              </a:rPr>
              <a:t>실시간성이 중요하고 약간의 유실은 감수 가능한 데이터에 적합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B3791A"/>
                </a:solidFill>
                <a:latin typeface="맑은 고딕"/>
                <a:ea typeface="맑은 고딕"/>
              </a:rPr>
              <a:t>•  </a:t>
            </a:r>
            <a:r>
              <a:rPr sz="1350" b="0" i="0">
                <a:solidFill>
                  <a:srgbClr val="333A40"/>
                </a:solidFill>
                <a:latin typeface="맑은 고딕"/>
                <a:ea typeface="맑은 고딕"/>
              </a:rPr>
              <a:t>예: EGM(3부 참고)처럼 매우 빠른 주기의 모션 데이터 스트림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77295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55F68"/>
                </a:solidFill>
                <a:latin typeface="맑은 고딕"/>
                <a:ea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F6A86"/>
                </a:solidFill>
                <a:latin typeface="맑은 고딕"/>
                <a:ea typeface="맑은 고딕"/>
              </a:rPr>
              <a:t>02. 전송 계층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B2A3C"/>
                </a:solidFill>
                <a:latin typeface="맑은 고딕"/>
                <a:ea typeface="맑은 고딕"/>
              </a:rPr>
              <a:t>왜 TCP는 '메시지 단위'가 아닌가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TCP는 그냥 끊김 없는 바이트 흐름(stream)이다 — 메시지의 시작과 끝을 TCP 자체가 알려주지 않는다.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그래서 메시지 하나가 여러 번의 recv()로 쪼개지거나, 여러 메시지가 한 번에 붙어서 들어올 수 있다.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이 문제를 해결하는 방법이 '메시지 프레이밍'이며, PPT 4/DOCX 1의 핵심 주제 중 하나다.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257800"/>
            <a:ext cx="10881360" cy="1051560"/>
          </a:xfrm>
          <a:prstGeom prst="rect">
            <a:avLst/>
          </a:prstGeom>
          <a:solidFill>
            <a:srgbClr val="E1EDF1"/>
          </a:solidFill>
          <a:ln w="9525">
            <a:solidFill>
              <a:srgbClr val="2F6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350" b="0" i="1">
                <a:solidFill>
                  <a:srgbClr val="2F6A86"/>
                </a:solidFill>
                <a:latin typeface="맑은 고딕"/>
                <a:ea typeface="맑은 고딕"/>
              </a:rPr>
              <a:t>💡 1차 프로젝트에서 실제로 겪은 사고: 'Done'과 'ReadyForPickup'이 개행 없이 붙어서 한 줄로 릴레이된 적이 있었다 — RAPID의 SocketSend가 개행을 자동으로 안 붙이기 때문.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55F68"/>
                </a:solidFill>
                <a:latin typeface="맑은 고딕"/>
                <a:ea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 i="0">
                <a:solidFill>
                  <a:srgbClr val="CFE3EA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4290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맑은 고딕"/>
                <a:ea typeface="맑은 고딕"/>
              </a:rPr>
              <a:t>소켓, HTTP, REST, WebSocket, TLS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55F68"/>
                </a:solidFill>
                <a:latin typeface="맑은 고딕"/>
                <a:ea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F6A86"/>
                </a:solidFill>
                <a:latin typeface="맑은 고딕"/>
                <a:ea typeface="맑은 고딕"/>
              </a:rPr>
              <a:t>03. 응용 계층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B2A3C"/>
                </a:solidFill>
                <a:latin typeface="맑은 고딕"/>
                <a:ea typeface="맑은 고딕"/>
              </a:rPr>
              <a:t>우리가 실제로 마주치는 통신 방식들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17320"/>
          <a:ext cx="10881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340"/>
                <a:gridCol w="4533900"/>
                <a:gridCol w="362712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방식</a:t>
                      </a:r>
                    </a:p>
                  </a:txBody>
                  <a:tcPr anchor="ctr">
                    <a:solidFill>
                      <a:srgbClr val="2F6A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설명</a:t>
                      </a:r>
                    </a:p>
                  </a:txBody>
                  <a:tcPr anchor="ctr">
                    <a:solidFill>
                      <a:srgbClr val="2F6A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우리 프로젝트에서</a:t>
                      </a:r>
                    </a:p>
                  </a:txBody>
                  <a:tcPr anchor="ctr">
                    <a:solidFill>
                      <a:srgbClr val="2F6A8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소켓 (Socket)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TCP/UDP 연결의 프로그래밍 인터페이스 — '전화선을 직접 까는' 가장 낮은 수준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AdminServer의 릴레이 통신, RAPID의 SocketSend/Receive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HTTP</a:t>
                      </a:r>
                    </a:p>
                  </a:txBody>
                  <a:tcPr anchor="ctr" marL="73152" marR="73152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요청-응답 구조의 텍스트 기반 프로토콜(웹의 기본)</a:t>
                      </a:r>
                    </a:p>
                  </a:txBody>
                  <a:tcPr anchor="ctr" marL="73152" marR="73152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Flask 웹 서버(8080번 포트), RWS(3부 참고)</a:t>
                      </a:r>
                    </a:p>
                  </a:txBody>
                  <a:tcPr anchor="ctr" marL="73152" marR="73152">
                    <a:solidFill>
                      <a:srgbClr val="F6F8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REST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HTTP 위에서 자원을 URL과 메서드(GET/POST 등)로 다루는 설계 스타일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RWS의 API 설계 방식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WebSocket</a:t>
                      </a:r>
                    </a:p>
                  </a:txBody>
                  <a:tcPr anchor="ctr" marL="73152" marR="73152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한 번 연결을 맺으면 서버가 먼저 데이터를 밀어 보낼 수 있는 양방향 통신</a:t>
                      </a:r>
                    </a:p>
                  </a:txBody>
                  <a:tcPr anchor="ctr" marL="73152" marR="73152"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RWS의 Subscription 기능(공식 확인됨, 3부 참고)</a:t>
                      </a:r>
                    </a:p>
                  </a:txBody>
                  <a:tcPr anchor="ctr" marL="73152" marR="73152">
                    <a:solidFill>
                      <a:srgbClr val="F6F8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TLS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통신 내용을 암호화하는 계층(https의 's')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333A40"/>
                          </a:solidFill>
                          <a:latin typeface="맑은 고딕"/>
                          <a:ea typeface="맑은 고딕"/>
                        </a:rPr>
                        <a:t>RWS가 기본적으로 사용 (3부 참고)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277295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55F68"/>
                </a:solidFill>
                <a:latin typeface="맑은 고딕"/>
                <a:ea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F6A86"/>
                </a:solidFill>
                <a:latin typeface="맑은 고딕"/>
                <a:ea typeface="맑은 고딕"/>
              </a:rPr>
              <a:t>03. 응용 계층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B2A3C"/>
                </a:solidFill>
                <a:latin typeface="맑은 고딕"/>
                <a:ea typeface="맑은 고딕"/>
              </a:rPr>
              <a:t>SSE(Server-Sent Events) — 우리 서버가 실제로 쓰는 방식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1" i="0">
                <a:solidFill>
                  <a:srgbClr val="1B2A3C"/>
                </a:solidFill>
                <a:latin typeface="맑은 고딕"/>
                <a:ea typeface="맑은 고딕"/>
              </a:rPr>
              <a:t>SSE —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서버가 브라우저에 실시간으로 이벤트를 계속 밀어 보내는 단방향 스트림. WebSocket보다 단순하다.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1" i="0">
                <a:solidFill>
                  <a:srgbClr val="1B2A3C"/>
                </a:solidFill>
                <a:latin typeface="맑은 고딕"/>
                <a:ea typeface="맑은 고딕"/>
              </a:rPr>
              <a:t>Final_Ver07의 /api/stream이 바로 이 방식 —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웹 화면이 새로고침 없이 실시간 로그를 받는 이유.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77295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55F68"/>
                </a:solidFill>
                <a:latin typeface="맑은 고딕"/>
                <a:ea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 i="0">
                <a:solidFill>
                  <a:srgbClr val="CFE3EA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4290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맑은 고딕"/>
                <a:ea typeface="맑은 고딕"/>
              </a:rPr>
              <a:t>Tailscale — 로컬 VPN으로 여러 노트북 묶기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55F68"/>
                </a:solidFill>
                <a:latin typeface="맑은 고딕"/>
                <a:ea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F6A86"/>
                </a:solidFill>
                <a:latin typeface="맑은 고딕"/>
                <a:ea typeface="맑은 고딕"/>
              </a:rPr>
              <a:t>04. Tailscale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B2A3C"/>
                </a:solidFill>
                <a:latin typeface="맑은 고딕"/>
                <a:ea typeface="맑은 고딕"/>
              </a:rPr>
              <a:t>Tailscale의 기본 개념 (공식 문서로 확인됨)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1" i="0">
                <a:solidFill>
                  <a:srgbClr val="1B2A3C"/>
                </a:solidFill>
                <a:latin typeface="맑은 고딕"/>
                <a:ea typeface="맑은 고딕"/>
              </a:rPr>
              <a:t>Tailnet —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Tailscale로 연결된 내 장치들의 사설 네트워크. 각 장치는 물리적 위치와 무관하게 서로 직접 통신 가능.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1" i="0">
                <a:solidFill>
                  <a:srgbClr val="1B2A3C"/>
                </a:solidFill>
                <a:latin typeface="맑은 고딕"/>
                <a:ea typeface="맑은 고딕"/>
              </a:rPr>
              <a:t>각 ABB 옆 중계기 노트북에 Tailscale 설치 —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물리적으로 다른 Wi-Fi(로봇별 개별 Wi-Fi)에 있어도, Tailscale 위에서는 같은 사설망처럼 서로 통신 가능.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1" i="0">
                <a:solidFill>
                  <a:srgbClr val="1B2A3C"/>
                </a:solidFill>
                <a:latin typeface="맑은 고딕"/>
                <a:ea typeface="맑은 고딕"/>
              </a:rPr>
              <a:t>ACL(접근 제어 목록) —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huJSON 형식의 정책 파일로 관리되며, 기본값은 전체 차단(default-deny) — 명시적으로 허용한 연결만 통과.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257800"/>
            <a:ext cx="10881360" cy="1051560"/>
          </a:xfrm>
          <a:prstGeom prst="rect">
            <a:avLst/>
          </a:prstGeom>
          <a:solidFill>
            <a:srgbClr val="E1EDF1"/>
          </a:solidFill>
          <a:ln w="9525">
            <a:solidFill>
              <a:srgbClr val="2F6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350" b="0" i="1">
                <a:solidFill>
                  <a:srgbClr val="2F6A86"/>
                </a:solidFill>
                <a:latin typeface="맑은 고딕"/>
                <a:ea typeface="맑은 고딕"/>
              </a:rPr>
              <a:t>💡 출처: Tailscale 공식 문서(tailscale.com/docs/features/access-control) — 원문 직접 확인 완료.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55F68"/>
                </a:solidFill>
                <a:latin typeface="맑은 고딕"/>
                <a:ea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F6A86"/>
                </a:solidFill>
                <a:latin typeface="맑은 고딕"/>
                <a:ea typeface="맑은 고딕"/>
              </a:rPr>
              <a:t>04. Tailscale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B2A3C"/>
                </a:solidFill>
                <a:latin typeface="맑은 고딕"/>
                <a:ea typeface="맑은 고딕"/>
              </a:rPr>
              <a:t>Subnet Router — Arduino처럼 직접 설치가 안 되는 기기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1" i="0">
                <a:solidFill>
                  <a:srgbClr val="1B2A3C"/>
                </a:solidFill>
                <a:latin typeface="맑은 고딕"/>
                <a:ea typeface="맑은 고딕"/>
              </a:rPr>
              <a:t>공식 정의 —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"A subnet router is a device in your tailnet that you use as a gateway to advertise routes to other devices." — Tailscale을 설치할 수 없는 장치도 이 게이트웨이를 통해 tailnet에 연결시킬 수 있다.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1" i="0">
                <a:solidFill>
                  <a:srgbClr val="1B2A3C"/>
                </a:solidFill>
                <a:latin typeface="맑은 고딕"/>
                <a:ea typeface="맑은 고딕"/>
              </a:rPr>
              <a:t>설정 절차(공식 문서 기준) —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① 게이트웨이 장치에 Tailscale 설치 → ② IP forwarding 활성화 → ③ tailscale set --advertise-routes=&lt;서브넷&gt; 로 라우트 광고 → ④ 관리자 콘솔에서 라우트 승인(autoApprovers로 자동화 가능) → ⑤ ACL로 트래픽 허용.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1" i="0">
                <a:solidFill>
                  <a:srgbClr val="1B2A3C"/>
                </a:solidFill>
                <a:latin typeface="맑은 고딕"/>
                <a:ea typeface="맑은 고딕"/>
              </a:rPr>
              <a:t>Arduino 같은 임베디드 기기는 원래 지원 시나리오 —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Tailscale 공식 문서에 "Connecting to appliances you can't install software on... IoT devices" 항목이 따로 있고, 이 경우 Subnet Router가 공식 권장 대응 방식이다.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257800"/>
            <a:ext cx="10881360" cy="1051560"/>
          </a:xfrm>
          <a:prstGeom prst="rect">
            <a:avLst/>
          </a:prstGeom>
          <a:solidFill>
            <a:srgbClr val="E1EDF1"/>
          </a:solidFill>
          <a:ln w="9525">
            <a:solidFill>
              <a:srgbClr val="2F6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350" b="0" i="1">
                <a:solidFill>
                  <a:srgbClr val="2F6A86"/>
                </a:solidFill>
                <a:latin typeface="맑은 고딕"/>
                <a:ea typeface="맑은 고딕"/>
              </a:rPr>
              <a:t>💡 결론: 우리 프로젝트가 'Arduino 옆 노트북을 중계기 겸 Subnet Router로 쓴 방식'은 그냥 임시방편이 아니라, Tailscale 공식 문서가 명시적으로 권장하는 정석 패턴이다. (출처: tailscale.com/docs/features/subnet-routers, tailscale.com/docs/reference/devices-without-tailscale — 둘 다 원문 확인)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55F68"/>
                </a:solidFill>
                <a:latin typeface="맑은 고딕"/>
                <a:ea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F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 i="0">
                <a:solidFill>
                  <a:srgbClr val="CFE3EA"/>
                </a:solidFill>
                <a:latin typeface="맑은 고딕"/>
                <a:ea typeface="맑은 고딕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4290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맑은 고딕"/>
                <a:ea typeface="맑은 고딕"/>
              </a:rPr>
              <a:t>우리 프로젝트 네트워크 구성 적용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55F68"/>
                </a:solidFill>
                <a:latin typeface="맑은 고딕"/>
                <a:ea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F3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2F6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i="0">
                <a:solidFill>
                  <a:srgbClr val="2F6A86"/>
                </a:solidFill>
                <a:latin typeface="맑은 고딕"/>
                <a:ea typeface="맑은 고딕"/>
              </a:rPr>
              <a:t>05. 적용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B2A3C"/>
                </a:solidFill>
                <a:latin typeface="맑은 고딕"/>
                <a:ea typeface="맑은 고딕"/>
              </a:rPr>
              <a:t>권장 네트워크 그림 (초안)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각 ABB 옆 중계기 노트북 — Tailscale 설치, 동시에 Subnet Router 역할도 겸해 Arduino/PLC가 있는 로컬 서브넷을 tailnet에 광고.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중앙 서버 노트북 — Tailscale 설치. 로컬 Wi-Fi IP가 바뀌어도 Tailscale IP는 안 바뀌므로, 릴레이 접속 주소를 Tailscale IP 기준으로 고정할 수 있다.</a:t>
            </a:r>
          </a:p>
          <a:p>
            <a:pPr>
              <a:spcAft>
                <a:spcPts val="1200"/>
              </a:spcAft>
            </a:pPr>
            <a:r>
              <a:rPr sz="1700" b="1" i="0">
                <a:solidFill>
                  <a:srgbClr val="2F6A86"/>
                </a:solidFill>
                <a:latin typeface="맑은 고딕"/>
                <a:ea typeface="맑은 고딕"/>
              </a:rPr>
              <a:t>▸  </a:t>
            </a:r>
            <a:r>
              <a:rPr sz="1700" b="0" i="0">
                <a:solidFill>
                  <a:srgbClr val="333A40"/>
                </a:solidFill>
                <a:latin typeface="맑은 고딕"/>
                <a:ea typeface="맑은 고딕"/>
              </a:rPr>
              <a:t>ACL — 중계기 노트북 ↔ 중앙 서버 노트북 간 필요한 포트(5000, 8080)만 명시적으로 허용.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257800"/>
            <a:ext cx="10881360" cy="1051560"/>
          </a:xfrm>
          <a:prstGeom prst="rect">
            <a:avLst/>
          </a:prstGeom>
          <a:solidFill>
            <a:srgbClr val="E1EDF1"/>
          </a:solidFill>
          <a:ln w="9525">
            <a:solidFill>
              <a:srgbClr val="2F6A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/>
            <a:r>
              <a:rPr sz="1350" b="0" i="1">
                <a:solidFill>
                  <a:srgbClr val="2F6A86"/>
                </a:solidFill>
                <a:latin typeface="맑은 고딕"/>
                <a:ea typeface="맑은 고딕"/>
              </a:rPr>
              <a:t>💡 이건 초안입니다 — 실제 네트워크 구성(공유기 여부, DHCP 예약 가능 여부 등)이 확정되면 IO_MAP.md/DEPLOYMENT.md 작성 시 함께 확정해야 합니다.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295" y="6473952"/>
            <a:ext cx="640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55F68"/>
                </a:solidFill>
                <a:latin typeface="맑은 고딕"/>
                <a:ea typeface="맑은 고딕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