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7e66ed0f4d4bd0" /><Relationship Type="http://schemas.openxmlformats.org/officeDocument/2006/relationships/extended-properties" Target="/docProps/app.xml" Id="R16abc499f36a47d8" /><Relationship Type="http://schemas.openxmlformats.org/officeDocument/2006/relationships/officeDocument" Target="/ppt/presentation.xml" Id="R947c6f104feb44f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8cf031bef3447b6"/>
  </p:sldMasterIdLst>
  <p:notesMasterIdLst>
    <p:notesMasterId xmlns:r="http://schemas.openxmlformats.org/officeDocument/2006/relationships" r:id="Rb35ee6b979084255"/>
  </p:notesMasterIdLst>
  <p:sldIdLst>
    <p:sldId xmlns:r="http://schemas.openxmlformats.org/officeDocument/2006/relationships" id="256" r:id="R3de44a7add1a431e"/>
    <p:sldId xmlns:r="http://schemas.openxmlformats.org/officeDocument/2006/relationships" id="257" r:id="R9dfabd2b5d9c4a45"/>
    <p:sldId xmlns:r="http://schemas.openxmlformats.org/officeDocument/2006/relationships" id="258" r:id="Ra8ab410d7ce34421"/>
    <p:sldId xmlns:r="http://schemas.openxmlformats.org/officeDocument/2006/relationships" id="259" r:id="Rafbbb59aaa4246f4"/>
    <p:sldId xmlns:r="http://schemas.openxmlformats.org/officeDocument/2006/relationships" id="260" r:id="R49ed0aa0ca464e4c"/>
    <p:sldId xmlns:r="http://schemas.openxmlformats.org/officeDocument/2006/relationships" id="261" r:id="Rc5b2904075884fa0"/>
    <p:sldId xmlns:r="http://schemas.openxmlformats.org/officeDocument/2006/relationships" id="262" r:id="R899ce97e9afb4fda"/>
    <p:sldId xmlns:r="http://schemas.openxmlformats.org/officeDocument/2006/relationships" id="263" r:id="Rec22e9804a384cb7"/>
    <p:sldId xmlns:r="http://schemas.openxmlformats.org/officeDocument/2006/relationships" id="264" r:id="R4091e3de65654d10"/>
    <p:sldId xmlns:r="http://schemas.openxmlformats.org/officeDocument/2006/relationships" id="265" r:id="R7b17dc98fa4e4238"/>
    <p:sldId xmlns:r="http://schemas.openxmlformats.org/officeDocument/2006/relationships" id="266" r:id="R430290e9e6c746a0"/>
    <p:sldId xmlns:r="http://schemas.openxmlformats.org/officeDocument/2006/relationships" id="267" r:id="R1e6a61326daa4bfd"/>
    <p:sldId xmlns:r="http://schemas.openxmlformats.org/officeDocument/2006/relationships" id="268" r:id="R0ed54ed871c64bec"/>
    <p:sldId xmlns:r="http://schemas.openxmlformats.org/officeDocument/2006/relationships" id="269" r:id="Re60a1b61a66844c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44a69f8daf477e" /><Relationship Type="http://schemas.openxmlformats.org/officeDocument/2006/relationships/slideMaster" Target="/ppt/slideMasters/slideMaster1.xml" Id="Rb8cf031bef3447b6" /><Relationship Type="http://schemas.openxmlformats.org/officeDocument/2006/relationships/notesMaster" Target="/ppt/notesMasters/notesMaster1.xml" Id="Rb35ee6b979084255" /><Relationship Type="http://schemas.openxmlformats.org/officeDocument/2006/relationships/presProps" Target="/ppt/presProps.xml" Id="R0f5321ac22e541a2" /><Relationship Type="http://schemas.openxmlformats.org/officeDocument/2006/relationships/tableStyles" Target="/ppt/tableStyles.xml" Id="R98fa09b5547f448a" /><Relationship Type="http://schemas.openxmlformats.org/officeDocument/2006/relationships/slide" Target="/ppt/slides/slide1.xml" Id="R3de44a7add1a431e" /><Relationship Type="http://schemas.openxmlformats.org/officeDocument/2006/relationships/slide" Target="/ppt/slides/slide2.xml" Id="R9dfabd2b5d9c4a45" /><Relationship Type="http://schemas.openxmlformats.org/officeDocument/2006/relationships/slide" Target="/ppt/slides/slide3.xml" Id="Ra8ab410d7ce34421" /><Relationship Type="http://schemas.openxmlformats.org/officeDocument/2006/relationships/slide" Target="/ppt/slides/slide4.xml" Id="Rafbbb59aaa4246f4" /><Relationship Type="http://schemas.openxmlformats.org/officeDocument/2006/relationships/slide" Target="/ppt/slides/slide5.xml" Id="R49ed0aa0ca464e4c" /><Relationship Type="http://schemas.openxmlformats.org/officeDocument/2006/relationships/slide" Target="/ppt/slides/slide6.xml" Id="Rc5b2904075884fa0" /><Relationship Type="http://schemas.openxmlformats.org/officeDocument/2006/relationships/slide" Target="/ppt/slides/slide7.xml" Id="R899ce97e9afb4fda" /><Relationship Type="http://schemas.openxmlformats.org/officeDocument/2006/relationships/slide" Target="/ppt/slides/slide8.xml" Id="Rec22e9804a384cb7" /><Relationship Type="http://schemas.openxmlformats.org/officeDocument/2006/relationships/slide" Target="/ppt/slides/slide9.xml" Id="R4091e3de65654d10" /><Relationship Type="http://schemas.openxmlformats.org/officeDocument/2006/relationships/slide" Target="/ppt/slides/slide10.xml" Id="R7b17dc98fa4e4238" /><Relationship Type="http://schemas.openxmlformats.org/officeDocument/2006/relationships/slide" Target="/ppt/slides/slide11.xml" Id="R430290e9e6c746a0" /><Relationship Type="http://schemas.openxmlformats.org/officeDocument/2006/relationships/slide" Target="/ppt/slides/slide12.xml" Id="R1e6a61326daa4bfd" /><Relationship Type="http://schemas.openxmlformats.org/officeDocument/2006/relationships/slide" Target="/ppt/slides/slide13.xml" Id="R0ed54ed871c64bec" /><Relationship Type="http://schemas.openxmlformats.org/officeDocument/2006/relationships/slide" Target="/ppt/slides/slide14.xml" Id="Re60a1b61a66844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97948a1cd2c41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4cc35559c04e33" /><Relationship Type="http://schemas.openxmlformats.org/officeDocument/2006/relationships/notesMaster" Target="/ppt/notesMasters/notesMaster1.xml" Id="Rb9bcec11699d49f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d56a22b6e1a405b" /><Relationship Type="http://schemas.openxmlformats.org/officeDocument/2006/relationships/notesMaster" Target="/ppt/notesMasters/notesMaster1.xml" Id="R8541c4769d8a45d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b59708c70aa4c53" /><Relationship Type="http://schemas.openxmlformats.org/officeDocument/2006/relationships/notesMaster" Target="/ppt/notesMasters/notesMaster1.xml" Id="Re76563f2d8534a1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9676ddba88845d0" /><Relationship Type="http://schemas.openxmlformats.org/officeDocument/2006/relationships/notesMaster" Target="/ppt/notesMasters/notesMaster1.xml" Id="R19bbb35dd5d14c3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ea9e24bff9947cf" /><Relationship Type="http://schemas.openxmlformats.org/officeDocument/2006/relationships/notesMaster" Target="/ppt/notesMasters/notesMaster1.xml" Id="Re2d268b04cea47b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64b54f073794363" /><Relationship Type="http://schemas.openxmlformats.org/officeDocument/2006/relationships/notesMaster" Target="/ppt/notesMasters/notesMaster1.xml" Id="Rb93818d77a96423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e12a7fe24f44b41" /><Relationship Type="http://schemas.openxmlformats.org/officeDocument/2006/relationships/notesMaster" Target="/ppt/notesMasters/notesMaster1.xml" Id="R3cdea46603ee499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c157ec682e243f8" /><Relationship Type="http://schemas.openxmlformats.org/officeDocument/2006/relationships/notesMaster" Target="/ppt/notesMasters/notesMaster1.xml" Id="R059cff776ec54b2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ea167f2c8d64074" /><Relationship Type="http://schemas.openxmlformats.org/officeDocument/2006/relationships/notesMaster" Target="/ppt/notesMasters/notesMaster1.xml" Id="R1321a89bc3b242d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aa7b1fa920948dc" /><Relationship Type="http://schemas.openxmlformats.org/officeDocument/2006/relationships/notesMaster" Target="/ppt/notesMasters/notesMaster1.xml" Id="R3d14855ddeb644d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c7ffafddea0485b" /><Relationship Type="http://schemas.openxmlformats.org/officeDocument/2006/relationships/notesMaster" Target="/ppt/notesMasters/notesMaster1.xml" Id="Rf0cbb7b0db854a8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526f3b200ea46d2" /><Relationship Type="http://schemas.openxmlformats.org/officeDocument/2006/relationships/notesMaster" Target="/ppt/notesMasters/notesMaster1.xml" Id="Rd14e26f78dce4f9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614b1d8b50c45d5" /><Relationship Type="http://schemas.openxmlformats.org/officeDocument/2006/relationships/notesMaster" Target="/ppt/notesMasters/notesMaster1.xml" Id="Ra62f6d3ba3d04a9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1780cc34728409e" /><Relationship Type="http://schemas.openxmlformats.org/officeDocument/2006/relationships/notesMaster" Target="/ppt/notesMasters/notesMaster1.xml" Id="Rf9873a558d264a1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https://developercenter.robotstudio.com/api/robotstudio/articles/Concepts/Rapid/What-is-Rapid.html</a:t>
            </a:r>
          </a:p>
          <a:p xmlns:a="http://schemas.openxmlformats.org/drawingml/2006/main">
            <a:r>
              <a:t>- OpenAI ImageGen, robot-cover.png, generated 2026-08-09 for this deck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RAPID는 RobotStudio만의 언어가 아니라 ABB 로봇 컨트롤러가 실행하는 언어라는 점부터 강조한다.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https://developercenter.robotstudio.com/api/robotstudio/articles/Concepts/Rapid/What-is-Rapid.html</a:t>
            </a:r>
          </a:p>
          <a:p xmlns:a="http://schemas.openxmlformats.org/drawingml/2006/main">
            <a:r>
              <a:t>- https://robotwebservices.robotics.abb.com/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이 역할 분담은 이후 Python 서버 연동 설계의 기준이 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https://destination-zukunft.abb.com/robotik/abb-steuerungen-von-der-revolutionaeren-s1-bis-omnicore/</a:t>
            </a:r>
          </a:p>
          <a:p xmlns:a="http://schemas.openxmlformats.org/drawingml/2006/main">
            <a:r>
              <a:t>- https://library.e.abb.com/public/ef27d6c7e1c59be1c1256fc500385aed/ABB%20SP%201-05_72dpi.pdf</a:t>
            </a:r>
          </a:p>
          <a:p xmlns:a="http://schemas.openxmlformats.org/drawingml/2006/main">
            <a:r>
              <a:t>- https://library.e.abb.com/public/3ccc2919e3a849b1b08033863c35c53c/3HAC098389%20TRM%20RAPID%20Overview%20RW%208-en.pdf</a:t>
            </a:r>
          </a:p>
          <a:p xmlns:a="http://schemas.openxmlformats.org/drawingml/2006/main">
            <a:r>
              <a:t>- OpenAI ImageGen, robot-history.png, generated 2026-08-09 for this deck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공식 자료는 RAPID를 한 개인이 아니라 ABB의 S4 개발 맥락에서 소개한다.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https://developercenter.robotstudio.com/api/robotstudio/articles/Concepts/Rapid/RobotStudio-Station-Elements.html</a:t>
            </a:r>
          </a:p>
          <a:p xmlns:a="http://schemas.openxmlformats.org/drawingml/2006/main">
            <a:r>
              <a:t>- https://library.e.abb.com/public/e801a2006203436e8f175f5f4405928f/3HAC098393%20AM%20Controller%20software%20OmniCore%20RW%208-en.pdf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RobotStudio의 Station과 Virtual Controller를 구분해서 설명한다.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https://library.e.abb.com/public/3ccc2919e3a849b1b08033863c35c53c/3HAC098389%20TRM%20RAPID%20Overview%20RW%208-en.pdf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코드를 읽을 때 먼저 현재 Task와 Module을 확인하고, 그 다음 main에서 호출 흐름을 따라간다.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https://developercenter.robotstudio.com/api/robotstudio/articles/Concepts/Rapid/What-is-Rapid.html</a:t>
            </a:r>
          </a:p>
          <a:p xmlns:a="http://schemas.openxmlformats.org/drawingml/2006/main">
            <a:r>
              <a:t>- https://library.e.abb.com/public/3ccc2919e3a849b1b08033863c35c53c/3HAC098389%20TRM%20RAPID%20Overview%20RW%208-en.pdf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RAPID 식별자는 대소문자를 구분하지 않으므로 이름만의 대소문자 차이로 변수를 만들 수 없다.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https://developercenter.robotstudio.com/api/robotstudio/articles/Concepts/Rapid/Rapid-Data.html</a:t>
            </a:r>
          </a:p>
          <a:p xmlns:a="http://schemas.openxmlformats.org/drawingml/2006/main">
            <a:r>
              <a:t>- https://robotwebservices.robotics.abb.com/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PERS는 외부 연동의 유일한 방법이라는 뜻은 아니다. 단순한 상태·레시피 교환에서 이해하기 쉬운 인터페이스가 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https://library.e.abb.com/public/3ccc2919e3a849b1b08033863c35c53c/3HAC098389%20TRM%20RAPID%20Overview%20RW%208-en.pdf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TRAP은 일반 PROC처럼 직접 호출하는 루틴이 아니라 인터럽트에 연결되어 실행된다.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https://library.e.abb.com/public/3ccc2919e3a849b1b08033863c35c53c/3HAC098389%20TRM%20RAPID%20Overview%20RW%208-en.pdf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MoveJ는 관절 공간에서 보간하며, MoveL은 TCP의 직선 경로를 만든다. 실제 속도와 경로는 로봇·옵션·설정의 영향을 받는다.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https://developercenter.robotstudio.com/api/robotstudio/articles/Concepts/Math/RobotStudio-Targets.html</a:t>
            </a:r>
          </a:p>
          <a:p xmlns:a="http://schemas.openxmlformats.org/drawingml/2006/main">
            <a:r>
              <a:t>- https://library.e.abb.com/public/3ccc2919e3a849b1b08033863c35c53c/3HAC098389%20TRM%20RAPID%20Overview%20RW%208-en.pdf</a:t>
            </a:r>
          </a:p>
          <a:p xmlns:a="http://schemas.openxmlformats.org/drawingml/2006/main">
            <a:r>
              <a:t>- OpenAI ImageGen, robot-coordinates.png, generated 2026-08-09 for this deck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같은 robtarget라도 어떤 WorkObject와 Tool을 쓰는지에 따라 실제 로봇 자세가 달라질 수 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https://library.e.abb.com/public/3ccc2919e3a849b1b08033863c35c53c/3HAC098389%20TRM%20RAPID%20Overview%20RW%208-en.pdf</a:t>
            </a:r>
          </a:p>
          <a:p xmlns:a="http://schemas.openxmlformats.org/drawingml/2006/main">
            <a:r>
              <a:t>- https://developercenter.robotstudio.com/api/robotstudio/articles/Concepts/Math/RobotStudio-Targets.html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실제 문법에는 옵션 인수와 로봇 구성에 따른 추가 인수가 있을 수 있다. 이 슬라이드는 가장 자주 보는 기본 형태를 해부한다.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https://developercenter.robotstudio.com/api/robotstudio/articles/Concepts/Rapid/What-is-Rapid.html</a:t>
            </a:r>
          </a:p>
          <a:p xmlns:a="http://schemas.openxmlformats.org/drawingml/2006/main">
            <a:r>
              <a:t>- https://library.e.abb.com/public/3ccc2919e3a849b1b08033863c35c53c/3HAC098389%20TRM%20RAPID%20Overview%20RW%208-en.pdf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코드는 구조 설명용이다. pHome 등의 robtarget와 tooldata·I/O는 실제 시스템에 맞게 별도로 정의해야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https://robotwebservices.robotics.abb.com/</a:t>
            </a:r>
          </a:p>
          <a:p xmlns:a="http://schemas.openxmlformats.org/drawingml/2006/main">
            <a:r>
              <a:t>- https://tailscale.com/docs/features/subnet-routers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Tailscale을 직접 설치하기 어려운 장치는 subnet router 뒤의 사설망 장치로 접근할 수 있다. 최종 네트워크 구조와 허용 포트는 컨트롤러 세대·옵션·현장 보안 정책에 맞춰 결정한다.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https://library.e.abb.com/public/e801a2006203436e8f175f5f4405928f/3HAC098393%20AM%20Controller%20software%20OmniCore%20RW%208-en.pdf</a:t>
            </a:r>
          </a:p>
          <a:p xmlns:a="http://schemas.openxmlformats.org/drawingml/2006/main">
            <a:r>
              <a:t>- https://developercenter.robotstudio.com/api/robotstudio/articles/Concepts/Rapid/RobotStudio-Station-Elements.html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실습은 Virtual Controller에서 먼저 진행하고, 실제 장비는 현장 안전 절차와 교육을 따른다.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54f4b5f55a476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e951fad72cf470f" /><Relationship Type="http://schemas.openxmlformats.org/officeDocument/2006/relationships/slideLayout" Target="/ppt/slideLayouts/slideLayout1.xml" Id="Rb6ca7d7a02fd4ac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ca7d7a02fd4ac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47d8e2fe1c4af3" /><Relationship Type="http://schemas.openxmlformats.org/officeDocument/2006/relationships/image" Target="/ppt/media/image.png" Id="Rbed2497046ad4de8" /><Relationship Type="http://schemas.openxmlformats.org/officeDocument/2006/relationships/notesSlide" Target="/ppt/notesSlides/notesSlide1.xml" Id="Rb87b5229841f469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ac33d592c34bc5" /><Relationship Type="http://schemas.openxmlformats.org/officeDocument/2006/relationships/notesSlide" Target="/ppt/notesSlides/notesSlide2.xml" Id="R14c4a385a80d414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069f93d140496e" /><Relationship Type="http://schemas.openxmlformats.org/officeDocument/2006/relationships/image" Target="/ppt/media/image2.png" Id="R7841932f4e1245da" /><Relationship Type="http://schemas.openxmlformats.org/officeDocument/2006/relationships/notesSlide" Target="/ppt/notesSlides/notesSlide3.xml" Id="Rde703e0737894a8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9cd65105c24519" /><Relationship Type="http://schemas.openxmlformats.org/officeDocument/2006/relationships/notesSlide" Target="/ppt/notesSlides/notesSlide4.xml" Id="R4c603468e5b6464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04db5a08e64951" /><Relationship Type="http://schemas.openxmlformats.org/officeDocument/2006/relationships/notesSlide" Target="/ppt/notesSlides/notesSlide5.xml" Id="R628ccb8041e74e7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03b18b01d64e32" /><Relationship Type="http://schemas.openxmlformats.org/officeDocument/2006/relationships/notesSlide" Target="/ppt/notesSlides/notesSlide6.xml" Id="R6f7ba03144154af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265ffc65c64356" /><Relationship Type="http://schemas.openxmlformats.org/officeDocument/2006/relationships/notesSlide" Target="/ppt/notesSlides/notesSlide7.xml" Id="R724d6f5434f542c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e6166b659b4f79" /><Relationship Type="http://schemas.openxmlformats.org/officeDocument/2006/relationships/notesSlide" Target="/ppt/notesSlides/notesSlide8.xml" Id="Rb76cbaeac6c0492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248224d89a4e36" /><Relationship Type="http://schemas.openxmlformats.org/officeDocument/2006/relationships/notesSlide" Target="/ppt/notesSlides/notesSlide9.xml" Id="R8f33f87c7d4347e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765b2b47fc4b2d" /><Relationship Type="http://schemas.openxmlformats.org/officeDocument/2006/relationships/image" Target="/ppt/media/image3.png" Id="R77b380f0591941ec" /><Relationship Type="http://schemas.openxmlformats.org/officeDocument/2006/relationships/notesSlide" Target="/ppt/notesSlides/notesSlide10.xml" Id="R2551c21e245e4a4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7033180964445f" /><Relationship Type="http://schemas.openxmlformats.org/officeDocument/2006/relationships/notesSlide" Target="/ppt/notesSlides/notesSlide11.xml" Id="R5cb8ccb0d27e44f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b0193430e54a15" /><Relationship Type="http://schemas.openxmlformats.org/officeDocument/2006/relationships/notesSlide" Target="/ppt/notesSlides/notesSlide12.xml" Id="R89a823ee265a46a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4c8369257d44f5" /><Relationship Type="http://schemas.openxmlformats.org/officeDocument/2006/relationships/notesSlide" Target="/ppt/notesSlides/notesSlide13.xml" Id="R6148e979f61747d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3877ed39f34038" /><Relationship Type="http://schemas.openxmlformats.org/officeDocument/2006/relationships/notesSlide" Target="/ppt/notesSlides/notesSlide14.xml" Id="R1b5b3ac5459b41c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d2497046ad4de8"/>
          <a:srcRect xmlns:a="http://schemas.openxmlformats.org/drawingml/2006/main" l="24987" t="0" r="2498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0"/>
            <a:ext cx="6096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883099-A66E-4ABE-B648-F4D88DCAE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341478-7C07-4AC7-867C-FE7D3DB44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476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ABB ROBOTICS · RAPID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488616-27C3-4E73-AA5B-DC801E38B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85900"/>
            <a:ext cx="50958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54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ABB RAPID</a:t>
            </a:r>
          </a:p>
          <a:p xmlns:a="http://schemas.openxmlformats.org/drawingml/2006/main">
            <a:pPr algn="l">
              <a:defRPr sz="54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54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첫 시간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06CCF7-9BAA-4F70-9323-981FBFD21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0"/>
            <a:ext cx="4857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역사부터 RobotStudio, 모션, 좌표계,</a:t>
            </a:r>
          </a:p>
          <a:p xmlns:a="http://schemas.openxmlformats.org/drawingml/2006/main">
            <a:pPr algn="l">
              <a:defRPr sz="202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Python 서버 연결까지 한 번에 보기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F211A8-43E5-403F-BE7A-308748535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00625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4BC312-39D9-46E0-A389-57807CAAB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57800"/>
            <a:ext cx="3333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입문용 시각 강의 · 2026</a:t>
            </a:r>
          </a:p>
        </p:txBody>
      </p:sp>
    </p:spTree>
    <p:extLst>
      <p:ext uri="{BB962C8B-B14F-4D97-AF65-F5344CB8AC3E}">
        <p14:creationId xmlns:p14="http://schemas.microsoft.com/office/powerpoint/2010/main" val="7445375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910F3D-7D10-4DC9-B669-BA4ABFE93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한 문장으로 이해하기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059253-8C1E-43A2-A10D-42DC2F452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8096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49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RAPID는 로봇 컨트롤러의</a:t>
            </a:r>
          </a:p>
          <a:p xmlns:a="http://schemas.openxmlformats.org/drawingml/2006/main">
            <a:pPr algn="l">
              <a:defRPr sz="49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49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실행 언어다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DC2373-D500-4594-9CE4-7719FA1E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0"/>
            <a:ext cx="981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Python이 ‘무엇을 할지’를 정하면, RAPID가 현장에서 ‘어떻게 움직일지’를 실행한다.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B07CC5-3E30-44D5-A797-1791B9009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810125"/>
            <a:ext cx="9334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D9D03B-C2B4-42F4-AA10-1F5A67009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810125"/>
            <a:ext cx="9334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3F397E-40C2-446E-9821-DEDE9026F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2571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Python 서버</a:t>
            </a:r>
          </a:p>
          <a:p xmlns:a="http://schemas.openxmlformats.org/drawingml/2006/main">
            <a:pPr algn="ctr">
              <a:defRPr sz="19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작업·데이터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A3AC7D-D492-4AAB-BAC7-FF35D5B42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305300"/>
            <a:ext cx="3000375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RAPID</a:t>
            </a:r>
          </a:p>
          <a:p xmlns:a="http://schemas.openxmlformats.org/drawingml/2006/main">
            <a:pPr algn="ctr">
              <a:defRPr sz="19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순서·인터록·모션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15FE46-931C-4533-B721-184C8FA99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305300"/>
            <a:ext cx="27241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로봇 셀</a:t>
            </a:r>
          </a:p>
          <a:p xmlns:a="http://schemas.openxmlformats.org/drawingml/2006/main">
            <a:pPr algn="ctr">
              <a:defRPr sz="19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로봇·그리퍼·I/O</a:t>
            </a:r>
          </a:p>
        </p:txBody>
      </p:sp>
    </p:spTree>
    <p:extLst>
      <p:ext uri="{BB962C8B-B14F-4D97-AF65-F5344CB8AC3E}">
        <p14:creationId xmlns:p14="http://schemas.microsoft.com/office/powerpoint/2010/main" val="1279834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ED8DFB-80CC-4480-9B46-B5B2B487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ABB RAPID · 첫 시간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BE2179-5CDF-4AF6-AC0B-5DB48EF63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1239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5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RAPID는 1994년 S4와 함께 시작됐다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E771BA-4A29-4E2B-9260-E81FA3A5C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79B218-797A-453D-880A-19B4C8C71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41932f4e1245da"/>
          <a:srcRect xmlns:a="http://schemas.openxmlformats.org/drawingml/2006/main" l="0" t="29097" r="0" b="290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428750"/>
            <a:ext cx="11391900" cy="2381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D78910-34FC-45E7-B2DE-ADD6B37E4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5727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10121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7394C0-B0C9-4DB0-9D63-2E3BC2E45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29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2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07BB28-85DE-44B8-BB2B-5E4571C45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338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1981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05BFF6-53EA-4FDE-AA4D-7ABC7514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S2 · ARLA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EAC9A0-0DD7-4C8C-A1D9-5895362F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1495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조이스틱·TCP 개념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535E33-0C36-4472-9EC8-606409F9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6005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103D71-A260-420C-9983-03EB2D912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338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1994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B55EAB-D5DA-4E94-81D6-1C3AAD278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9530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S4 · RAPID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E1BA30-EACE-4A74-884F-716927C73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31495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새 고급 로봇 언어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7F91D2-EF13-4F28-B85A-160647546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629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2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9753CC-27F8-4771-9FB7-EA43265E0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1338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2004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9C29C8-058E-4DFF-A34E-E93D21718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9530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IRC5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03AEAE-6E97-4712-A9A0-CCA951D11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31495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Virtual Controller 2세대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61B731-6678-493F-A147-9CE0BF61F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629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2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1A695B-D541-470B-81D3-D41617897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338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2018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B0F23A-9FAB-4DFF-BD86-BF81A79DB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9530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OmniCore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4308DA-E4B7-4ABF-98FB-C6C33CB55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31495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차세대 제어 플랫폼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6470A9-166C-4F86-8689-E3BC558F5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629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2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82CA9E-3C39-41B2-BCD8-E1E786658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1338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현재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D36BC3-6C30-4239-92D3-D3C9624B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9530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RobotWare 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242BBD-9F5D-479C-AB7C-A6E2F448A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31495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RAPID 계속 사용</a:t>
            </a:r>
          </a:p>
        </p:txBody>
      </p:sp>
    </p:spTree>
    <p:extLst>
      <p:ext uri="{BB962C8B-B14F-4D97-AF65-F5344CB8AC3E}">
        <p14:creationId xmlns:p14="http://schemas.microsoft.com/office/powerpoint/2010/main" val="2125476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0047B3-8C9C-4AA7-BE80-A47FA4DF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ABB RAPID · 첫 시간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F64C75-307D-43AE-8D5F-E369D30CB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1239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5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RobotStudio에서 같은 코드를 먼저 검증한다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2A6F9D-1BFC-42D8-ABAB-77E112477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A8F030-92E4-49BF-A181-B7C7BF71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D5F4D1-F1BE-4341-AADE-9591A36C0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57550"/>
            <a:ext cx="6286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788DEB-942B-4BA2-95A4-723E33FCC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257550"/>
            <a:ext cx="6286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484434-7F27-4B89-B66B-BB6CBFD3A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57550"/>
            <a:ext cx="6286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1FD820-1531-4A3A-9E09-D8BB195D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145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74F8D6-1EB5-4477-9E1F-079FD806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90800"/>
            <a:ext cx="2381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Station 구성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로봇·CAD·공구</a:t>
            </a:r>
          </a:p>
          <a:p xmlns:a="http://schemas.openxmlformats.org/drawingml/2006/main">
            <a:pPr algn="ctr">
              <a:defRPr sz="18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작업 좌표계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2479D9-3CD0-425A-9ABB-8A6FBD5CC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1145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BFE462-0386-4E58-8F82-56BB4FF4E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90800"/>
            <a:ext cx="2381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RAPID 작성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Target·Path·I/O</a:t>
            </a:r>
          </a:p>
          <a:p xmlns:a="http://schemas.openxmlformats.org/drawingml/2006/main">
            <a:pPr algn="ctr">
              <a:defRPr sz="18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PROC와 데이터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136886-8667-46D4-BCB9-8355E92C6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1145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B13A92-D6C1-45E0-A8BD-44978A02D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590800"/>
            <a:ext cx="2381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Virtual Controller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실제 제어기와 같은</a:t>
            </a:r>
          </a:p>
          <a:p xmlns:a="http://schemas.openxmlformats.org/drawingml/2006/main">
            <a:pPr algn="ctr">
              <a:defRPr sz="18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실행 환경으로 시뮬레이션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3A5199-1750-4E71-956F-666A1A441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1145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F1B27C-F325-4874-AD74-ED9AA1DB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590800"/>
            <a:ext cx="2381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실기 전송·보정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실제 셀에서 TCP·좌표</a:t>
            </a:r>
          </a:p>
          <a:p xmlns:a="http://schemas.openxmlformats.org/drawingml/2006/main">
            <a:pPr algn="ctr">
              <a:defRPr sz="18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저속 검증 후 운전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A85905-8D9E-4797-8CD5-E0D112DFF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048250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그래픽으로 만든 Path도 컨트롤러가 이해하는 RAPID로 동기화된다.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0DC603-8EB1-4297-81A3-31718616B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619750"/>
            <a:ext cx="800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시뮬레이션 결과가 좋더라도 실제 로봇에서는 TCP·하중·좌표계와 주변 장비를 다시 확인한다.</a:t>
            </a:r>
          </a:p>
        </p:txBody>
      </p:sp>
    </p:spTree>
    <p:extLst>
      <p:ext uri="{BB962C8B-B14F-4D97-AF65-F5344CB8AC3E}">
        <p14:creationId xmlns:p14="http://schemas.microsoft.com/office/powerpoint/2010/main" val="11628824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D0E79D-FBCB-41E1-81F3-2A13BB472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ABB RAPID · 첫 시간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ED3673-3005-4DED-94FD-83214C312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1239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5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프로그램은 Task → Module → Routine으로 읽는다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319FA8-D0CE-4F40-B26B-09BD41DD9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EE8607-1462-4DCF-8B8D-AA8762D09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C7C312-1AFC-45D0-A0C1-A773AF5F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495550"/>
            <a:ext cx="0" cy="19812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05A0F1-7846-4516-9CE1-0E74B8D2E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09925"/>
            <a:ext cx="904875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3AA0DC-BD29-4961-AD8D-B018F4355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95750"/>
            <a:ext cx="904875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2C84DC-3498-48DD-91E9-8AE6CA143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209925"/>
            <a:ext cx="3810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6506CE-E6EF-4B77-9840-75863EF16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209925"/>
            <a:ext cx="0" cy="5048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C180FF-F7E4-47CD-B044-BF9804389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714750"/>
            <a:ext cx="4543425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68E66E-9CE0-422C-B86A-12756C669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14750"/>
            <a:ext cx="0" cy="14287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980052-7991-467F-AD61-B6913F82E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714750"/>
            <a:ext cx="0" cy="14287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367889-34EA-4AFF-A606-2649F48E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714750"/>
            <a:ext cx="0" cy="14287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6FFD7D-052D-4747-9482-50E7D12CE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16954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9525">
            <a:solidFill>
              <a:srgbClr val="171A1F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Task</a:t>
            </a:r>
          </a:p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T_ROB1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139A3F-5ADC-4A6F-920E-00DE782C3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781300"/>
            <a:ext cx="23812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96063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Module</a:t>
            </a:r>
          </a:p>
          <a:p xmlns:a="http://schemas.openxmlformats.org/drawingml/2006/main">
            <a:pPr algn="ctr">
              <a:defRPr sz="19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MainModule.mod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8B0BB0-043C-4D0D-B005-5E51019DD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676650"/>
            <a:ext cx="23812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Module</a:t>
            </a:r>
          </a:p>
          <a:p xmlns:a="http://schemas.openxmlformats.org/drawingml/2006/main">
            <a:pPr algn="ctr">
              <a:defRPr sz="19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IoModule.mod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AEDAC3-1CCF-46BD-9F69-077505AE0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857625"/>
            <a:ext cx="1809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PROC main()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554D30-126D-4D8D-8B75-178AA6544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857625"/>
            <a:ext cx="1285875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FUNC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417E7A-E14C-44D1-8351-2CD33E5BD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857625"/>
            <a:ext cx="1285875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TRAP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7D3D84-F94D-4914-B38C-49122C922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Task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8001A2-DFD9-46E3-93C7-A2B54F6FC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30003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독립 실행 단위. 기본 로봇 태스크는 보통 T_ROB1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FCC3AD-7AF7-4AA0-92AB-C65BAE22B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95875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Module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36E6D0-590B-4E91-B133-0EC1E063B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476875"/>
            <a:ext cx="2667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관련 데이터와 루틴을 묶는 코드 파일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A3E85E-55D3-488F-8679-2F719DE00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095875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Routine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7D93DA-0025-42B8-A922-15E1B7305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476875"/>
            <a:ext cx="3048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PROC·FUNC·TRAP으로 실제 동작을 정의</a:t>
            </a:r>
          </a:p>
        </p:txBody>
      </p:sp>
    </p:spTree>
    <p:extLst>
      <p:ext uri="{BB962C8B-B14F-4D97-AF65-F5344CB8AC3E}">
        <p14:creationId xmlns:p14="http://schemas.microsoft.com/office/powerpoint/2010/main" val="15973486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ED3D0B-57F2-45DA-8426-BAB90CB23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ABB RAPID · 첫 시간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A5C3D9-10D0-4D40-871F-89D3BB35D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1239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5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기본 문법은 낯설지만 규칙은 단순하다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C23253-AEA1-4A6C-9333-92C1E91E9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C4D804-02E4-4C90-88ED-F2FA21119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D17F2B-DD78-424B-A5C2-EE36112EE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6191250" cy="4362450"/>
          </a:xfrm>
          <a:prstGeom xmlns:a="http://schemas.openxmlformats.org/drawingml/2006/main" prst="roundRect">
            <a:avLst>
              <a:gd name="adj" fmla="val 262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209550" tIns="171450" rIns="171450" bIns="1524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21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01216"/>
                </a:solidFill>
                <a:latin typeface="Consolas"/>
                <a:ea typeface="Consolas"/>
                <a:cs typeface="Consolas"/>
              </a:rPr>
              <a:t>MODULE MainModule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0121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01216"/>
                </a:solidFill>
                <a:latin typeface="Consolas"/>
                <a:ea typeface="Consolas"/>
                <a:cs typeface="Consolas"/>
              </a:rPr>
              <a:t>    VAR num count := 0;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0121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01216"/>
                </a:solidFill>
                <a:latin typeface="Consolas"/>
                <a:ea typeface="Consolas"/>
                <a:cs typeface="Consolas"/>
              </a:rPr>
              <a:t>    PROC main()</a:t>
            </a:r>
          </a:p>
          <a:p xmlns:a="http://schemas.openxmlformats.org/drawingml/2006/main">
            <a:pPr algn="l">
              <a:defRPr sz="1725" b="0">
                <a:solidFill>
                  <a:srgbClr val="10121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01216"/>
                </a:solidFill>
                <a:latin typeface="Consolas"/>
                <a:ea typeface="Consolas"/>
                <a:cs typeface="Consolas"/>
              </a:rPr>
              <a:t>        count := count + 1;</a:t>
            </a:r>
          </a:p>
          <a:p xmlns:a="http://schemas.openxmlformats.org/drawingml/2006/main">
            <a:pPr algn="l">
              <a:defRPr sz="1725" b="0">
                <a:solidFill>
                  <a:srgbClr val="10121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01216"/>
                </a:solidFill>
                <a:latin typeface="Consolas"/>
                <a:ea typeface="Consolas"/>
                <a:cs typeface="Consolas"/>
              </a:rPr>
              <a:t>        TPWrite "Count" \Num:=count;</a:t>
            </a:r>
          </a:p>
          <a:p xmlns:a="http://schemas.openxmlformats.org/drawingml/2006/main">
            <a:pPr algn="l">
              <a:defRPr sz="1725" b="0">
                <a:solidFill>
                  <a:srgbClr val="10121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01216"/>
                </a:solidFill>
                <a:latin typeface="Consolas"/>
                <a:ea typeface="Consolas"/>
                <a:cs typeface="Consolas"/>
              </a:rPr>
              <a:t>    ENDPROC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0121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01216"/>
                </a:solidFill>
                <a:latin typeface="Consolas"/>
                <a:ea typeface="Consolas"/>
                <a:cs typeface="Consolas"/>
              </a:rPr>
              <a:t>ENDMODULE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2B0627-5D00-4D28-995E-ADF805F53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676400"/>
            <a:ext cx="123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:=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7E023E-45D2-4F04-A537-DBECB6A2D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676400"/>
            <a:ext cx="295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값을 대입한다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0C0FA6-6CFF-4882-AFC4-8D3BEED3C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019300"/>
            <a:ext cx="2952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Python의 =와 역할이 비슷하다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11B36A-29F0-48EC-B311-AF003A2DC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419350"/>
            <a:ext cx="43815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9FC34F-982A-41C4-8F9C-6ACC4686A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514600"/>
            <a:ext cx="123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80144F-951E-43C5-9933-11CE2E739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514600"/>
            <a:ext cx="295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명령을 끝낸다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F4B833-4B1E-4D7A-95F6-748586776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57500"/>
            <a:ext cx="2952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대부분의 실행문 끝에 붙인다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E19A9A-2B28-4355-83A9-E8F9645DB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257550"/>
            <a:ext cx="43815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43F760-8404-4E07-B31F-BBC37326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352800"/>
            <a:ext cx="123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!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6EFC2C-9A4F-402C-9BDB-21866AE3E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352800"/>
            <a:ext cx="295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주석을 시작한다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343019-3FFE-4EF4-A156-356D3CFD7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695700"/>
            <a:ext cx="2952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설명은 코드와 같은 줄에도 가능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9AC633-58E5-42A9-95AA-DA8C02FAC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095750"/>
            <a:ext cx="43815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FCEB24-7E14-4CB7-9ED4-0DEA5D117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191000"/>
            <a:ext cx="123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대소문자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0DE4C9-9C16-4B0B-907D-DC32488B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191000"/>
            <a:ext cx="295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구분하지 않는다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D7932D-1C9D-4BAF-91AF-1646650DF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533900"/>
            <a:ext cx="2952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partCount와 PARTCOUNT는 같은 이름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99A342-BFAE-4EDF-8D4C-D04419F9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933950"/>
            <a:ext cx="43815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6FC2E3-1371-47C9-87E6-32C0702B7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029200"/>
            <a:ext cx="123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이름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9C5C96-3325-4F07-BC37-0606AF86B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029200"/>
            <a:ext cx="295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최대 32자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CB7225-7FE4-44AF-AF25-EFE6578BA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372100"/>
            <a:ext cx="2952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문자로 시작하고 _ 사용 가능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17651E-75E3-4091-A885-B412190B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772150"/>
            <a:ext cx="43815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222550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B1B371-0414-439A-B098-DC9E7598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ABB RAPID · 첫 시간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E9882D-A848-43D5-AA0C-7F43CCF3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1239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5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데이터는 ‘종류’와 ‘수명’으로 나눈다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55707E-C079-476B-8DA0-95F17BE9E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29DBA5-9D7A-4C5A-943B-BC0B30A6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2813FD-9B87-4CCB-967D-7BF83FBB0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값의 수명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F13BEF-7416-469B-971D-4CEA6F8E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0"/>
            <a:ext cx="1285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VAR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E6CF41-00A3-4691-B8CF-350820FE3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305050"/>
            <a:ext cx="3524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실행 중 바뀌는 일반 변수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788624-1F5B-4E6B-B92D-1659A8AD6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657475"/>
            <a:ext cx="3524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56F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60656F"/>
                </a:solidFill>
                <a:latin typeface="Consolas"/>
                <a:ea typeface="Consolas"/>
                <a:cs typeface="Consolas"/>
              </a:rPr>
              <a:t>VAR num count;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A447EF-9FB7-4D97-89DB-C3031A21A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76575"/>
            <a:ext cx="5095875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FAA891-4690-43A6-AB57-5D996F31A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1285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PERS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DFFBC8-7453-4BBA-BBEB-A3484AD3C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276600"/>
            <a:ext cx="3524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시작점을 되돌려도 값을 유지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679C07-3D35-4F9B-AC0B-2339918D2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629025"/>
            <a:ext cx="3524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56F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60656F"/>
                </a:solidFill>
                <a:latin typeface="Consolas"/>
                <a:ea typeface="Consolas"/>
                <a:cs typeface="Consolas"/>
              </a:rPr>
              <a:t>PERS num total := 0;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D2B20B-465B-4C75-ABE5-5F3C0CA09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48125"/>
            <a:ext cx="5095875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8AF7D6-BDFE-4758-B3A2-14083CC2B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29100"/>
            <a:ext cx="1285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CONST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8329D0-EDCA-4287-ADF9-C0DE323E7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248150"/>
            <a:ext cx="3524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선언 후 바꿀 수 없는 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8CF5EA-C3B2-4A82-9017-5DDB3C44C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600575"/>
            <a:ext cx="3524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56F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60656F"/>
                </a:solidFill>
                <a:latin typeface="Consolas"/>
                <a:ea typeface="Consolas"/>
                <a:cs typeface="Consolas"/>
              </a:rPr>
              <a:t>CONST num limit := 100;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9C4B98-08A2-458B-823B-6F2A8BE9D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9675"/>
            <a:ext cx="5095875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FF2290-A5BB-4CA2-87CB-AB98A4E3B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657350"/>
            <a:ext cx="3524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로봇 전용 자료형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BAEA03-2165-4BA3-80AA-0FE930D66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2669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robtarget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F2C862-35DC-4645-ACD5-89F057204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26695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위치·자세·축 구성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0C6424-B79A-401C-A1DC-F401D5DC0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905125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tooldata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2B42DF-394D-413C-B872-3984E4255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905125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TCP·공구 하중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E53DAE-47CB-4439-A3C6-F142C3A88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5433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wobjdata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240057-3F4D-488A-8D2E-545E88866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54330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작업물 좌표계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EEB1C7-E9E1-44B6-BA40-60A1E5230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181475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speeddata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F9CB69-D620-4F58-B9DA-A4DC7BCE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181475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이동 속도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DC9804-EE59-4B15-9018-AE1EEADC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8196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zonedata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C0C750-25E5-45DD-A59D-B476626D9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81965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정지·블렌딩 범위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6A8E27-0237-4F8E-86E3-C5BB4668A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476875"/>
            <a:ext cx="4857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152400" tIns="95250" rIns="152400" bIns="76200" anchor="t">
            <a:normAutofit fontScale="9471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서버와 상태값을 주고받을 때 PERS가 자주 쓰인다.</a:t>
            </a:r>
          </a:p>
        </p:txBody>
      </p:sp>
    </p:spTree>
    <p:extLst>
      <p:ext uri="{BB962C8B-B14F-4D97-AF65-F5344CB8AC3E}">
        <p14:creationId xmlns:p14="http://schemas.microsoft.com/office/powerpoint/2010/main" val="16913514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102598-1452-4014-A16B-732418918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ABB RAPID · 첫 시간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9ABD73-CE4A-41AA-B0E2-970337EE7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1239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5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PROC·FUNC·TRAP은 역할이 다르다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F13454-1146-4645-A389-8029B3C6D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D333FE-E5E1-49E9-8882-49FDEA11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07E6B3-4C56-4E66-9FB6-1FC6D284B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828800"/>
            <a:ext cx="0" cy="36957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01F9DF-842F-4961-9620-E04EBE0FF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28800"/>
            <a:ext cx="0" cy="36957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7410EB-92CA-44A7-A2C4-AC588FBF1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A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520CCE-A841-4CF7-8027-BD308439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43100"/>
            <a:ext cx="628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CD7C57-6613-4D67-A52E-A040DFE29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7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PROC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59F10A-8B4F-40F4-9B72-5CF35D447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52800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행동을 수행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FC5103-4AA4-430A-8D45-8C42EE48A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24300"/>
            <a:ext cx="2952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이동, I/O, 초기화처럼</a:t>
            </a:r>
          </a:p>
          <a:p xmlns:a="http://schemas.openxmlformats.org/drawingml/2006/main">
            <a:pPr algn="l">
              <a:defRPr sz="165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반환값이 없는 일반 작업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E8458B-75CD-434B-9F80-66939103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05400"/>
            <a:ext cx="3048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133350" tIns="76200" rIns="9525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216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01216"/>
                </a:solidFill>
                <a:latin typeface="Consolas"/>
                <a:ea typeface="Consolas"/>
                <a:cs typeface="Consolas"/>
              </a:rPr>
              <a:t>PROC PickPart()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E59669-548F-4BB3-8ACB-A39E4DB40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859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A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C796DE-77C1-4C90-B53C-C3F154AA8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43100"/>
            <a:ext cx="628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BC6FC4-590D-4490-A744-86642BA6C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8130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7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FUNC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0BB7D9-7FFA-4391-96DD-5953E500D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352800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값을 계산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401E00-6A4E-44FD-9CEA-5F776A33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924300"/>
            <a:ext cx="2952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계산 결과를 특정 자료형으로</a:t>
            </a:r>
          </a:p>
          <a:p xmlns:a="http://schemas.openxmlformats.org/drawingml/2006/main">
            <a:pPr algn="l">
              <a:defRPr sz="165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호출한 곳에 반환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05BC01-10B2-4C85-A016-5C978CD7F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105400"/>
            <a:ext cx="3048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133350" tIns="76200" rIns="9525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216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01216"/>
                </a:solidFill>
                <a:latin typeface="Consolas"/>
                <a:ea typeface="Consolas"/>
                <a:cs typeface="Consolas"/>
              </a:rPr>
              <a:t>FUNC num Distance()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2A0B06-0A43-4487-8E0B-B9BE7BD82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8859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1B133C-8AB8-4A07-83B4-5E1C911C4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943100"/>
            <a:ext cx="628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FA6627-A8B0-4106-8620-6027FA5BB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78130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7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TRAP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7DFA1C-DDEF-4978-BCAF-650E35334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352800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인터럽트에 반응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9EB45A-75E5-4B2A-920C-3F8CAB90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924300"/>
            <a:ext cx="2952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연결된 인터럽트가 발생하면</a:t>
            </a:r>
          </a:p>
          <a:p xmlns:a="http://schemas.openxmlformats.org/drawingml/2006/main">
            <a:pPr algn="l">
              <a:defRPr sz="165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자동으로 실행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98C6B2-6FCD-4206-9751-C490E07E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105400"/>
            <a:ext cx="3048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133350" tIns="76200" rIns="9525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216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01216"/>
                </a:solidFill>
                <a:latin typeface="Consolas"/>
                <a:ea typeface="Consolas"/>
                <a:cs typeface="Consolas"/>
              </a:rPr>
              <a:t>TRAP EmergencyTrap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9652C4-8DA0-4D1C-B952-C3E7FAB4E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953125"/>
            <a:ext cx="695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좋은 main()은 PROC를 조합해 전체 사이클이 한눈에 보이게 한다.</a:t>
            </a:r>
          </a:p>
        </p:txBody>
      </p:sp>
    </p:spTree>
    <p:extLst>
      <p:ext uri="{BB962C8B-B14F-4D97-AF65-F5344CB8AC3E}">
        <p14:creationId xmlns:p14="http://schemas.microsoft.com/office/powerpoint/2010/main" val="129471890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97B8D29-7C84-4C22-A087-8092184FC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ABB RAPID · 첫 시간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597F2C-114A-413F-A54D-90341EC41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1239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5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MoveJ·MoveL·MoveC는 경로가 다르다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8ABCF5-A9EC-402C-943D-F379F9F6D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A53E81-0782-47F0-A2CA-2004ED3BF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618271-9FFD-4542-B9CF-52279C2E5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695450"/>
            <a:ext cx="0" cy="39052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7E848C-0A16-4FF3-9DF6-317C30BDE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695450"/>
            <a:ext cx="0" cy="39052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D162B9-8B35-4340-9028-A365793FF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43250"/>
            <a:ext cx="7620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818EC3-6703-4E32-9544-24E04B8D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714500" y="2571750"/>
            <a:ext cx="857250" cy="5715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A46C75-2B59-4C05-BDF7-826DA6D15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71750"/>
            <a:ext cx="8382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E58AA1-322D-4D7B-A9BD-B3601F975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670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2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47A96B-44B5-49C3-A2B0-5F8EB53FD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95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4EEA14-8A09-4D36-8312-86B8DC1BA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953000" y="2571750"/>
            <a:ext cx="2457450" cy="5715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F0DFA8-BD26-4B50-B612-B8AEAAF0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0670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2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F8C9A9-8E82-4ABC-8A19-DD8B21F8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95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16B8DA-F008-4FCE-9C22-309B70435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43125"/>
            <a:ext cx="2838450" cy="1524000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EADA3A-FAE2-4228-84F9-051FE4AFB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066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2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960C7E-B116-46E2-9618-79A5483C2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28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C9702C-B837-4A1A-8701-36171E186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MoveJ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E68B20-CB36-4E9F-B29B-485682012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관절 기준 이동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8714F7-F511-44EE-B0E5-630589394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95700"/>
            <a:ext cx="3048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빠른 위치 전환에 유리</a:t>
            </a:r>
          </a:p>
          <a:p xmlns:a="http://schemas.openxmlformats.org/drawingml/2006/main">
            <a:pPr algn="l">
              <a:defRPr sz="157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TCP 경로는 직선이 아닐 수 있음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70011C-BD6E-4A47-9D3C-771DEC89F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81550"/>
            <a:ext cx="3238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114300" tIns="95250" rIns="95250" bIns="762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216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01216"/>
                </a:solidFill>
                <a:latin typeface="Consolas"/>
                <a:ea typeface="Consolas"/>
                <a:cs typeface="Consolas"/>
              </a:rPr>
              <a:t>MoveJ pHome, v100, fine, tool0;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177B2B-2E2F-46E9-8476-4A725C90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6573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MoveL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68F0F7-19BA-42E5-A445-79FD91AB6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9550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TCP 직선 이동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F82E5B-00E1-4A5D-ABB9-607F311B0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95700"/>
            <a:ext cx="3048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접근·삽입·용접처럼</a:t>
            </a:r>
          </a:p>
          <a:p xmlns:a="http://schemas.openxmlformats.org/drawingml/2006/main">
            <a:pPr algn="l">
              <a:defRPr sz="157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직선 경로가 중요할 때 사용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298B91-6B76-42B8-8A1B-DBB604F3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781550"/>
            <a:ext cx="3238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114300" tIns="95250" rIns="95250" bIns="762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216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01216"/>
                </a:solidFill>
                <a:latin typeface="Consolas"/>
                <a:ea typeface="Consolas"/>
                <a:cs typeface="Consolas"/>
              </a:rPr>
              <a:t>MoveL pPick, v20, fine, tool0;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F6DDAC-9646-4AD4-A03C-2E25DBAED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6573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MoveC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64E8D9-E8CE-4BC9-ACC3-77B069F17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9550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원호 이동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6A1BAF-13C1-42D8-937B-75DDBC6C3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695700"/>
            <a:ext cx="3048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중간점과 끝점을 이용해</a:t>
            </a:r>
          </a:p>
          <a:p xmlns:a="http://schemas.openxmlformats.org/drawingml/2006/main">
            <a:pPr algn="l">
              <a:defRPr sz="157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곡선 경로를 만든다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2F3C8D-CE89-42B0-A179-04B40871C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781550"/>
            <a:ext cx="3238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114300" tIns="95250" rIns="95250" bIns="762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216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01216"/>
                </a:solidFill>
                <a:latin typeface="Consolas"/>
                <a:ea typeface="Consolas"/>
                <a:cs typeface="Consolas"/>
              </a:rPr>
              <a:t>MoveC pMid, pEnd, v50, z10, tool0;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A30570-A4F3-48FB-B2EA-E5F3390FD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57875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fine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4CF856-939C-4750-B66A-D71586D72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857875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목표점에서 정확히 정지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A53B301-978A-46D9-82E0-BB75C6A5D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857875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z10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0EEB801-F99E-4010-BFA3-79F5559D6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857875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목표점 주변을 부드럽게 통과</a:t>
            </a:r>
          </a:p>
        </p:txBody>
      </p:sp>
    </p:spTree>
    <p:extLst>
      <p:ext uri="{BB962C8B-B14F-4D97-AF65-F5344CB8AC3E}">
        <p14:creationId xmlns:p14="http://schemas.microsoft.com/office/powerpoint/2010/main" val="75001857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D7D747-63B9-43E7-A3DB-F9A468BF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ABB RAPID · 첫 시간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778464-16B0-41DB-BB2A-BE66E6F95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1239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5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좌표계를 이해해야 로봇이 정확히 움직인다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137036-DEAC-4AF2-84DA-0398737E4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D55102-C06E-4846-8C60-A760D3A9C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b380f0591941ec"/>
          <a:stretch xmlns:a="http://schemas.openxmlformats.org/drawingml/2006/main"/>
        </p:blipFill>
        <p:spPr>
          <a:xfrm xmlns:a="http://schemas.openxmlformats.org/drawingml/2006/main">
            <a:off x="578644" y="1524000"/>
            <a:ext cx="6786563" cy="45243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6944F3-6E03-45E8-A244-ECE9668BA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95450"/>
            <a:ext cx="3238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Base / World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F91650-E740-4F0F-B550-0D79CB1BB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095500"/>
            <a:ext cx="323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로봇과 셀의 기준 좌표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BF1A7B-3D4E-4F4D-BD4A-EFAFFC68E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590800"/>
            <a:ext cx="32385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8D7870-8086-474A-AC76-47C8D720D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00350"/>
            <a:ext cx="3238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WorkObject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AE223D-ABF2-44A9-B2F3-68AF4CF97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200400"/>
            <a:ext cx="323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작업물에 붙여 두는 좌표계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C3C0E4-89DF-4487-9829-C2DCBB221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695700"/>
            <a:ext cx="32385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DD3BA4-B846-4DEA-8444-91E01B551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905250"/>
            <a:ext cx="3238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Tool / TCP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6FB037-E790-4704-A03A-6890C8904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305300"/>
            <a:ext cx="3333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실제로 경로를 따라가는 공구점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E60383-787E-41DB-89D0-7F3896AC0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048250"/>
            <a:ext cx="35242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133350" tIns="95250" rIns="133350" bIns="76200" anchor="ctr">
            <a:normAutofit fontScale="90215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robtarget + wobjdata + tooldata</a:t>
            </a:r>
          </a:p>
          <a:p xmlns:a="http://schemas.openxmlformats.org/drawingml/2006/main">
            <a:pPr algn="ctr">
              <a:defRPr sz="18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= 실제 TCP의 목표 자세</a:t>
            </a:r>
          </a:p>
        </p:txBody>
      </p:sp>
    </p:spTree>
    <p:extLst>
      <p:ext uri="{BB962C8B-B14F-4D97-AF65-F5344CB8AC3E}">
        <p14:creationId xmlns:p14="http://schemas.microsoft.com/office/powerpoint/2010/main" val="133841775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BEAFC02-B81A-4967-A464-DEF6EDE3B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ABB RAPID · 첫 시간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4EA48F-30F9-4A75-8A5E-CD884AFCF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1239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5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MoveL 한 줄을 여섯 조각으로 읽는다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38F75F-4D83-417F-A2F3-22160FFC8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EAA20D-5D63-4C84-8F46-E80EC5F8B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2BFB2D-D630-45B8-B19F-97A68AA08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171450" tIns="95250" rIns="1714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325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MoveL pPick, v20, fine, toolGripper\WObj:=wobjPart;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157707-BB76-4DA6-8640-C64689BB0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E17CA7-7C2D-451D-9E9B-DCA80D248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09950"/>
            <a:ext cx="1657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216"/>
                </a:solidFill>
                <a:latin typeface="Consolas"/>
                <a:ea typeface="Consolas"/>
                <a:cs typeface="Consolas"/>
              </a:defRPr>
            </a:pPr>
            <a:r>
              <a:rPr sz="2400" b="1">
                <a:solidFill>
                  <a:srgbClr val="101216"/>
                </a:solidFill>
                <a:latin typeface="Consolas"/>
                <a:ea typeface="Consolas"/>
                <a:cs typeface="Consolas"/>
              </a:rPr>
              <a:t>MoveL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316F28-1A24-4226-892B-D9A5BB97F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0"/>
            <a:ext cx="1657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이동 방식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672B40-6966-41F5-9619-0A0CFA74E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14850"/>
            <a:ext cx="1657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TCP 직선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D6E2F6-D047-4117-AC23-83C93BB99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028950"/>
            <a:ext cx="0" cy="23812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F933DB-C000-4412-B0A1-603423AD2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95275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A96450-C7CC-48C3-93F6-426ABABF9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409950"/>
            <a:ext cx="1657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216"/>
                </a:solidFill>
                <a:latin typeface="Consolas"/>
                <a:ea typeface="Consolas"/>
                <a:cs typeface="Consolas"/>
              </a:defRPr>
            </a:pPr>
            <a:r>
              <a:rPr sz="2400" b="1">
                <a:solidFill>
                  <a:srgbClr val="101216"/>
                </a:solidFill>
                <a:latin typeface="Consolas"/>
                <a:ea typeface="Consolas"/>
                <a:cs typeface="Consolas"/>
              </a:rPr>
              <a:t>pPick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F70D89-4E5E-4EA2-B2C8-2D025D862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095750"/>
            <a:ext cx="1657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목표점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4B83F7-966C-4BBC-B0F6-797DFDE39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514850"/>
            <a:ext cx="1657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robtarget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A7C12D-9AE6-4689-9397-46AA5A7E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028950"/>
            <a:ext cx="0" cy="23812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498845-021B-46BD-81C6-EAAF34021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95275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E6BC31-19A4-45F1-9FB5-5C56B9008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409950"/>
            <a:ext cx="1657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216"/>
                </a:solidFill>
                <a:latin typeface="Consolas"/>
                <a:ea typeface="Consolas"/>
                <a:cs typeface="Consolas"/>
              </a:defRPr>
            </a:pPr>
            <a:r>
              <a:rPr sz="2400" b="1">
                <a:solidFill>
                  <a:srgbClr val="101216"/>
                </a:solidFill>
                <a:latin typeface="Consolas"/>
                <a:ea typeface="Consolas"/>
                <a:cs typeface="Consolas"/>
              </a:rPr>
              <a:t>v20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44F0F4-C1F1-4B15-A968-55A09D238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095750"/>
            <a:ext cx="1657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속도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33B946-35A2-4902-BFC8-4E38EA231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514850"/>
            <a:ext cx="1657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speeddata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58B7FA-179D-408D-A2ED-DE43DBE9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028950"/>
            <a:ext cx="0" cy="23812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F4DC4A-F01E-4633-9F7B-4AEB7509F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95275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B522C8-95F9-40D9-94EE-0F2E057A3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409950"/>
            <a:ext cx="1657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216"/>
                </a:solidFill>
                <a:latin typeface="Consolas"/>
                <a:ea typeface="Consolas"/>
                <a:cs typeface="Consolas"/>
              </a:defRPr>
            </a:pPr>
            <a:r>
              <a:rPr sz="2400" b="1">
                <a:solidFill>
                  <a:srgbClr val="101216"/>
                </a:solidFill>
                <a:latin typeface="Consolas"/>
                <a:ea typeface="Consolas"/>
                <a:cs typeface="Consolas"/>
              </a:rPr>
              <a:t>fine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58741D-C01B-4F5F-A17C-126494D4A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095750"/>
            <a:ext cx="1657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정지 방식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62108B-9208-4504-9FDB-363E533F7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514850"/>
            <a:ext cx="1657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정확히 정지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9BE475-CD43-4CC3-89F0-A9BE7B69D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28950"/>
            <a:ext cx="0" cy="23812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887D46-4417-4FEF-9D6E-484BDA628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5275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99FB8A-201A-4F95-A366-9654BFDC0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09950"/>
            <a:ext cx="1657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216"/>
                </a:solidFill>
                <a:latin typeface="Consolas"/>
                <a:ea typeface="Consolas"/>
                <a:cs typeface="Consolas"/>
              </a:defRPr>
            </a:pPr>
            <a:r>
              <a:rPr sz="1950" b="1">
                <a:solidFill>
                  <a:srgbClr val="101216"/>
                </a:solidFill>
                <a:latin typeface="Consolas"/>
                <a:ea typeface="Consolas"/>
                <a:cs typeface="Consolas"/>
              </a:rPr>
              <a:t>toolGripper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F1AB4F-E547-4FBF-A1C7-2C24F4F6F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95750"/>
            <a:ext cx="1657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공구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23DFFA-261D-4B17-B888-C5C289DC0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14850"/>
            <a:ext cx="1657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TCP·하중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5154E4-EE06-41E9-8CC5-FC9019A75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028950"/>
            <a:ext cx="0" cy="23812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E07F5C-C00A-4B61-A592-9E0FC87E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95275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5906E5-932B-468B-9F3F-E3A5536E6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409950"/>
            <a:ext cx="1657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216"/>
                </a:solidFill>
                <a:latin typeface="Consolas"/>
                <a:ea typeface="Consolas"/>
                <a:cs typeface="Consolas"/>
              </a:defRPr>
            </a:pPr>
            <a:r>
              <a:rPr sz="2400" b="1">
                <a:solidFill>
                  <a:srgbClr val="101216"/>
                </a:solidFill>
                <a:latin typeface="Consolas"/>
                <a:ea typeface="Consolas"/>
                <a:cs typeface="Consolas"/>
              </a:rPr>
              <a:t>\WObj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D0AB8BC-3BF7-4079-985D-2D15D29A7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095750"/>
            <a:ext cx="1657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작업 좌표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4A97021-4091-469A-B727-29C81DED2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514850"/>
            <a:ext cx="1657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wobjPart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E1DD22F-3849-44DA-AD7C-4BC7E18E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24500"/>
            <a:ext cx="914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목표점만 바꾸는 코드가 아니다. 속도·정지·공구·좌표계까지 한 줄에서 함께 결정한다.</a:t>
            </a:r>
          </a:p>
        </p:txBody>
      </p:sp>
    </p:spTree>
    <p:extLst>
      <p:ext uri="{BB962C8B-B14F-4D97-AF65-F5344CB8AC3E}">
        <p14:creationId xmlns:p14="http://schemas.microsoft.com/office/powerpoint/2010/main" val="158211468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A64089-5043-4796-8B5C-1A92D3F36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ABB RAPID · 첫 시간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BCFA23-E26A-48E9-B52A-F48533822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1239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5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좋은 main은 작업 순서만 보여준다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B4801F-5D9F-450A-ACE0-0FE9238B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528FA5-91EC-4BB8-B527-55C261A10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078314-A5FC-4F09-852E-A66D2C0A5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43050"/>
            <a:ext cx="6191250" cy="4591050"/>
          </a:xfrm>
          <a:prstGeom xmlns:a="http://schemas.openxmlformats.org/drawingml/2006/main" prst="roundRect">
            <a:avLst>
              <a:gd name="adj" fmla="val 249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209550" tIns="171450" rIns="171450" bIns="1524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101216"/>
                </a:solidFill>
                <a:latin typeface="Consolas"/>
                <a:ea typeface="Consolas"/>
                <a:cs typeface="Consolas"/>
              </a:defRPr>
            </a:pPr>
            <a:r>
              <a:rPr sz="1613" b="0">
                <a:solidFill>
                  <a:srgbClr val="101216"/>
                </a:solidFill>
                <a:latin typeface="Consolas"/>
                <a:ea typeface="Consolas"/>
                <a:cs typeface="Consolas"/>
              </a:rPr>
              <a:t>MODULE PickExample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13" b="0">
                <a:solidFill>
                  <a:srgbClr val="101216"/>
                </a:solidFill>
                <a:latin typeface="Consolas"/>
                <a:ea typeface="Consolas"/>
                <a:cs typeface="Consolas"/>
              </a:defRPr>
            </a:pPr>
            <a:r>
              <a:rPr sz="1613" b="0">
                <a:solidFill>
                  <a:srgbClr val="101216"/>
                </a:solidFill>
                <a:latin typeface="Consolas"/>
                <a:ea typeface="Consolas"/>
                <a:cs typeface="Consolas"/>
              </a:rPr>
              <a:t>    PERS num partCount := 0;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13" b="0">
                <a:solidFill>
                  <a:srgbClr val="101216"/>
                </a:solidFill>
                <a:latin typeface="Consolas"/>
                <a:ea typeface="Consolas"/>
                <a:cs typeface="Consolas"/>
              </a:defRPr>
            </a:pPr>
            <a:r>
              <a:rPr sz="1613" b="0">
                <a:solidFill>
                  <a:srgbClr val="101216"/>
                </a:solidFill>
                <a:latin typeface="Consolas"/>
                <a:ea typeface="Consolas"/>
                <a:cs typeface="Consolas"/>
              </a:rPr>
              <a:t>    PROC main()</a:t>
            </a:r>
          </a:p>
          <a:p xmlns:a="http://schemas.openxmlformats.org/drawingml/2006/main">
            <a:pPr algn="l">
              <a:defRPr sz="1613" b="0">
                <a:solidFill>
                  <a:srgbClr val="101216"/>
                </a:solidFill>
                <a:latin typeface="Consolas"/>
                <a:ea typeface="Consolas"/>
                <a:cs typeface="Consolas"/>
              </a:defRPr>
            </a:pPr>
            <a:r>
              <a:rPr sz="1613" b="0">
                <a:solidFill>
                  <a:srgbClr val="101216"/>
                </a:solidFill>
                <a:latin typeface="Consolas"/>
                <a:ea typeface="Consolas"/>
                <a:cs typeface="Consolas"/>
              </a:rPr>
              <a:t>        MoveJ pHome, v100, fine, tool0;</a:t>
            </a:r>
          </a:p>
          <a:p xmlns:a="http://schemas.openxmlformats.org/drawingml/2006/main">
            <a:pPr algn="l">
              <a:defRPr sz="1613" b="0">
                <a:solidFill>
                  <a:srgbClr val="101216"/>
                </a:solidFill>
                <a:latin typeface="Consolas"/>
                <a:ea typeface="Consolas"/>
                <a:cs typeface="Consolas"/>
              </a:defRPr>
            </a:pPr>
            <a:r>
              <a:rPr sz="1613" b="0">
                <a:solidFill>
                  <a:srgbClr val="101216"/>
                </a:solidFill>
                <a:latin typeface="Consolas"/>
                <a:ea typeface="Consolas"/>
                <a:cs typeface="Consolas"/>
              </a:rPr>
              <a:t>        PickPart;</a:t>
            </a:r>
          </a:p>
          <a:p xmlns:a="http://schemas.openxmlformats.org/drawingml/2006/main">
            <a:pPr algn="l">
              <a:defRPr sz="1613" b="0">
                <a:solidFill>
                  <a:srgbClr val="101216"/>
                </a:solidFill>
                <a:latin typeface="Consolas"/>
                <a:ea typeface="Consolas"/>
                <a:cs typeface="Consolas"/>
              </a:defRPr>
            </a:pPr>
            <a:r>
              <a:rPr sz="1613" b="0">
                <a:solidFill>
                  <a:srgbClr val="101216"/>
                </a:solidFill>
                <a:latin typeface="Consolas"/>
                <a:ea typeface="Consolas"/>
                <a:cs typeface="Consolas"/>
              </a:rPr>
              <a:t>        MoveJ pHome, v100, fine, tool0;</a:t>
            </a:r>
          </a:p>
          <a:p xmlns:a="http://schemas.openxmlformats.org/drawingml/2006/main">
            <a:pPr algn="l">
              <a:defRPr sz="1613" b="0">
                <a:solidFill>
                  <a:srgbClr val="101216"/>
                </a:solidFill>
                <a:latin typeface="Consolas"/>
                <a:ea typeface="Consolas"/>
                <a:cs typeface="Consolas"/>
              </a:defRPr>
            </a:pPr>
            <a:r>
              <a:rPr sz="1613" b="0">
                <a:solidFill>
                  <a:srgbClr val="101216"/>
                </a:solidFill>
                <a:latin typeface="Consolas"/>
                <a:ea typeface="Consolas"/>
                <a:cs typeface="Consolas"/>
              </a:rPr>
              <a:t>        partCount := partCount + 1;</a:t>
            </a:r>
          </a:p>
          <a:p xmlns:a="http://schemas.openxmlformats.org/drawingml/2006/main">
            <a:pPr algn="l">
              <a:defRPr sz="1613" b="0">
                <a:solidFill>
                  <a:srgbClr val="101216"/>
                </a:solidFill>
                <a:latin typeface="Consolas"/>
                <a:ea typeface="Consolas"/>
                <a:cs typeface="Consolas"/>
              </a:defRPr>
            </a:pPr>
            <a:r>
              <a:rPr sz="1613" b="0">
                <a:solidFill>
                  <a:srgbClr val="101216"/>
                </a:solidFill>
                <a:latin typeface="Consolas"/>
                <a:ea typeface="Consolas"/>
                <a:cs typeface="Consolas"/>
              </a:rPr>
              <a:t>    ENDPROC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13" b="0">
                <a:solidFill>
                  <a:srgbClr val="101216"/>
                </a:solidFill>
                <a:latin typeface="Consolas"/>
                <a:ea typeface="Consolas"/>
                <a:cs typeface="Consolas"/>
              </a:defRPr>
            </a:pPr>
            <a:r>
              <a:rPr sz="1613" b="0">
                <a:solidFill>
                  <a:srgbClr val="101216"/>
                </a:solidFill>
                <a:latin typeface="Consolas"/>
                <a:ea typeface="Consolas"/>
                <a:cs typeface="Consolas"/>
              </a:rPr>
              <a:t>ENDMODULE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D73B38-CB69-4D27-AAEC-87022EEEB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333625"/>
            <a:ext cx="2095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6D621D-DF8E-4DD0-915A-6F8FA513E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286125"/>
            <a:ext cx="2095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86DA40-131F-476A-86D4-03DFF716B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238625"/>
            <a:ext cx="2095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8C0ED4-B3CD-4400-93D7-4138C76FA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3429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1 · Home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AE2020-09EB-4154-A736-B69563F34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62250"/>
            <a:ext cx="3429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2 · Approach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6E6C82-F726-4890-97FA-5F7D2596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14750"/>
            <a:ext cx="3429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3 · Pick + Grip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A166E7-1DAB-4620-8A78-D8E00F268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67250"/>
            <a:ext cx="3429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4 · Retreat → Home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B03AD2-BF92-4628-8427-41359F82B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676900"/>
            <a:ext cx="3810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143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main에는 순서, PickPart에는 세부 이동과 I/O</a:t>
            </a:r>
          </a:p>
        </p:txBody>
      </p:sp>
    </p:spTree>
    <p:extLst>
      <p:ext uri="{BB962C8B-B14F-4D97-AF65-F5344CB8AC3E}">
        <p14:creationId xmlns:p14="http://schemas.microsoft.com/office/powerpoint/2010/main" val="157820662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3CD4DD-A95B-4075-B043-2480552E6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ABB RAPID · 첫 시간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338C57-0FED-411E-8E94-D2A79D03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1239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5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Python은 지시하고, RAPID는 현장에서 실행한다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A181B2-89FE-4200-9202-6914A6C82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E76209-6E6C-47CE-81FA-66004CA9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299091-81CD-492E-983C-6E3CBCE59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552700"/>
            <a:ext cx="5524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7BCB68-A2DB-465B-B0F9-0A352EA43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552700"/>
            <a:ext cx="5524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679A50-913E-41A4-97A3-6D196554A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552700"/>
            <a:ext cx="5524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B4FD84-06E5-4DEE-81E3-2E6FC96F5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552700"/>
            <a:ext cx="5524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720995-AB50-4B84-989B-41ED95FE9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14550"/>
            <a:ext cx="1714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Python 서버</a:t>
            </a:r>
          </a:p>
          <a:p xmlns:a="http://schemas.openxmlformats.org/drawingml/2006/main">
            <a:pPr algn="ctr">
              <a:defRPr sz="17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작업·DB·UI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B38680-6B1F-4025-80FE-BA8584BE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114550"/>
            <a:ext cx="1714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Tailscale</a:t>
            </a:r>
          </a:p>
          <a:p xmlns:a="http://schemas.openxmlformats.org/drawingml/2006/main">
            <a:pPr algn="ctr">
              <a:defRPr sz="17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사설망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63C8CD-A7C5-470C-91E0-F78F691BA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114550"/>
            <a:ext cx="1714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Gateway</a:t>
            </a:r>
          </a:p>
          <a:p xmlns:a="http://schemas.openxmlformats.org/drawingml/2006/main">
            <a:pPr algn="ctr">
              <a:defRPr sz="17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Subnet router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DFD74D-FDB1-4229-AB91-47CDE2F25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114550"/>
            <a:ext cx="1714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ABB 제어기</a:t>
            </a:r>
          </a:p>
          <a:p xmlns:a="http://schemas.openxmlformats.org/drawingml/2006/main">
            <a:pPr algn="ctr">
              <a:defRPr sz="17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RWS·RAPID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51DDB5-702C-46EE-A413-05EE08CA1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114550"/>
            <a:ext cx="1714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Robot Cell</a:t>
            </a:r>
          </a:p>
          <a:p xmlns:a="http://schemas.openxmlformats.org/drawingml/2006/main">
            <a:pPr algn="ctr">
              <a:defRPr sz="17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모션·I/O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1E2FEA-4767-49E7-90CC-7F644778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718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RWS / HTTPS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E8FA54-3932-48E1-BBB4-3ED55F113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62400"/>
            <a:ext cx="0" cy="52387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7CE5B0-F5CD-4347-BC14-E8B2B525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52875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Python이 맡기 좋은 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6A1387-946F-4572-A1B4-4997184EA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43425"/>
            <a:ext cx="4476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• 작업 스케줄·레시피</a:t>
            </a:r>
          </a:p>
          <a:p xmlns:a="http://schemas.openxmlformats.org/drawingml/2006/main">
            <a:pPr algn="l">
              <a:defRPr sz="172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• 데이터베이스·사용자 화면</a:t>
            </a:r>
          </a:p>
          <a:p xmlns:a="http://schemas.openxmlformats.org/drawingml/2006/main">
            <a:pPr algn="l">
              <a:defRPr sz="172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• 상태 조회·생산 결과 저장</a:t>
            </a:r>
          </a:p>
          <a:p xmlns:a="http://schemas.openxmlformats.org/drawingml/2006/main">
            <a:pPr algn="l">
              <a:defRPr sz="172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• 시작 요청과 값 전달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7A02D1-1E39-44B2-9260-DCBA53C5E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52875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RAPID이 맡기 좋은 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FEDDE5-77BF-459A-BA65-81DC798F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43425"/>
            <a:ext cx="4476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• MoveJ·MoveL 실제 실행</a:t>
            </a:r>
          </a:p>
          <a:p xmlns:a="http://schemas.openxmlformats.org/drawingml/2006/main">
            <a:pPr algn="l">
              <a:defRPr sz="172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• 그리퍼·센서·PLC 인터록</a:t>
            </a:r>
          </a:p>
          <a:p xmlns:a="http://schemas.openxmlformats.org/drawingml/2006/main">
            <a:pPr algn="l">
              <a:defRPr sz="172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• 오류 처리와 안전한 복귀</a:t>
            </a:r>
          </a:p>
          <a:p xmlns:a="http://schemas.openxmlformats.org/drawingml/2006/main">
            <a:pPr algn="l">
              <a:defRPr sz="172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• 컨트롤러 내부 사이클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291889-A796-4169-9ACC-7C39F99AD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134100"/>
            <a:ext cx="9220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44F5A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E44F5A"/>
                </a:solidFill>
                <a:latin typeface="Noto Sans KR"/>
                <a:ea typeface="Noto Sans KR"/>
                <a:cs typeface="Noto Sans KR"/>
              </a:rPr>
              <a:t>Tailscale은 연결 경로다. 안전 기능이나 결정론적 실시간 모션 제어를 대신하지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38535568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6C8703-07A5-433B-BA79-37B89F68D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다음 시간으로 가는 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C9FE0C-4A3F-427B-A685-C0DDC34E3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6858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4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첫 실습은 작게,</a:t>
            </a:r>
          </a:p>
          <a:p xmlns:a="http://schemas.openxmlformats.org/drawingml/2006/main">
            <a:pPr algn="l">
              <a:defRPr sz="4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4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검증은 두 번 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39091D-8B2A-4965-AB82-953A27917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102870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7872BE-70A5-4D52-8BE8-037DA8A5B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671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2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B2A53-AAEF-407C-8E46-2AD3ECF67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3FA94C-DC9C-4EDC-ADE1-2A486276A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209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TPWrite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A9B653-27FA-498E-8FA2-8147CE9CC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화면에 문자 출력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5B57CB-3AD1-4E71-89D5-121F58856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36671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2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16E369-F428-4562-A6EB-0B9595F6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1945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047B66-EF69-46C5-8A17-4D94B9B7A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95750"/>
            <a:ext cx="209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변수·IF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0A56F8-1919-41A3-B737-AB898C161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7200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작은 로직 실행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23E0F8-CD1B-4DA9-8296-E98DEFCAB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6671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2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4AC994-8AB0-421E-A947-963B75B4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21945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682AD1-283C-4C71-A8D4-0287C330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095750"/>
            <a:ext cx="209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MoveJ·MoveL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BE1C95-BCD5-45ED-B08F-596E6D33D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57200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Virtual Controller 검증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5252E6-7AE4-4124-BFD4-0241A3802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6671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284225-56D8-4CE5-8FD7-FC777D5CF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1945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40BB5D-AAA2-44C9-B767-463845616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95750"/>
            <a:ext cx="209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실제 로봇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3A03B4-F092-478F-8DFA-598229EE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57200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0656F"/>
                </a:solidFill>
                <a:latin typeface="Noto Sans KR"/>
                <a:ea typeface="Noto Sans KR"/>
                <a:cs typeface="Noto Sans KR"/>
              </a:rPr>
              <a:t>수동 모드·저속 확인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20C536-DD71-40E0-97DA-9D969CE5B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638800"/>
            <a:ext cx="94869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114300" tIns="76200" rIns="1143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실제 로봇 전: TCP · 하중 · WorkObject · 목표점 · 속도 · 주변 사람/설비 확인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292B4E-12E4-4FE4-96FC-A03B02651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286500"/>
            <a:ext cx="426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NEXT · RobotStudio에서 첫 Virtual Controller 만들기</a:t>
            </a:r>
          </a:p>
        </p:txBody>
      </p:sp>
    </p:spTree>
    <p:extLst>
      <p:ext uri="{BB962C8B-B14F-4D97-AF65-F5344CB8AC3E}">
        <p14:creationId xmlns:p14="http://schemas.microsoft.com/office/powerpoint/2010/main" val="15509610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2026-08-09T15:02:02.6180000Z</dcterms:created>
  <dcterms:modified xsi:type="dcterms:W3CDTF">2026-08-09T15:02:02.6180000Z</dcterms:modified>
</coreProperties>
</file>