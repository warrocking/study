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98e1d7ddd64c1b" /><Relationship Type="http://schemas.openxmlformats.org/officeDocument/2006/relationships/extended-properties" Target="/docProps/app.xml" Id="Rc6013261b71b42ca" /><Relationship Type="http://schemas.openxmlformats.org/officeDocument/2006/relationships/officeDocument" Target="/ppt/presentation.xml" Id="Ra4244b4fe52a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58e5f65dca4695"/>
  </p:sldMasterIdLst>
  <p:notesMasterIdLst>
    <p:notesMasterId xmlns:r="http://schemas.openxmlformats.org/officeDocument/2006/relationships" r:id="R2af308acdeac4b85"/>
  </p:notesMasterIdLst>
  <p:sldIdLst>
    <p:sldId xmlns:r="http://schemas.openxmlformats.org/officeDocument/2006/relationships" id="256" r:id="R9a84fb352c054024"/>
    <p:sldId xmlns:r="http://schemas.openxmlformats.org/officeDocument/2006/relationships" id="257" r:id="R36a314d63edc4ccc"/>
    <p:sldId xmlns:r="http://schemas.openxmlformats.org/officeDocument/2006/relationships" id="258" r:id="R8c0381e329a540b4"/>
    <p:sldId xmlns:r="http://schemas.openxmlformats.org/officeDocument/2006/relationships" id="259" r:id="R72e88caf729743a0"/>
    <p:sldId xmlns:r="http://schemas.openxmlformats.org/officeDocument/2006/relationships" id="260" r:id="R418f7a37236c46c3"/>
    <p:sldId xmlns:r="http://schemas.openxmlformats.org/officeDocument/2006/relationships" id="261" r:id="R98588840ebec4200"/>
    <p:sldId xmlns:r="http://schemas.openxmlformats.org/officeDocument/2006/relationships" id="262" r:id="R4426936bbfba44ea"/>
    <p:sldId xmlns:r="http://schemas.openxmlformats.org/officeDocument/2006/relationships" id="263" r:id="R9b335f0f3d374105"/>
    <p:sldId xmlns:r="http://schemas.openxmlformats.org/officeDocument/2006/relationships" id="264" r:id="Rdf2da5dd1ada458c"/>
    <p:sldId xmlns:r="http://schemas.openxmlformats.org/officeDocument/2006/relationships" id="265" r:id="R3c105211f0d54cf4"/>
    <p:sldId xmlns:r="http://schemas.openxmlformats.org/officeDocument/2006/relationships" id="266" r:id="R250d1bacba714009"/>
    <p:sldId xmlns:r="http://schemas.openxmlformats.org/officeDocument/2006/relationships" id="267" r:id="R015353e7bf78438b"/>
    <p:sldId xmlns:r="http://schemas.openxmlformats.org/officeDocument/2006/relationships" id="268" r:id="R6f7a8f7389e741c4"/>
    <p:sldId xmlns:r="http://schemas.openxmlformats.org/officeDocument/2006/relationships" id="269" r:id="R13ca157beb6341e6"/>
    <p:sldId xmlns:r="http://schemas.openxmlformats.org/officeDocument/2006/relationships" id="270" r:id="R822b1d7ae8834047"/>
    <p:sldId xmlns:r="http://schemas.openxmlformats.org/officeDocument/2006/relationships" id="271" r:id="R9e66aec10a504b68"/>
    <p:sldId xmlns:r="http://schemas.openxmlformats.org/officeDocument/2006/relationships" id="272" r:id="Rbed2197853254e35"/>
    <p:sldId xmlns:r="http://schemas.openxmlformats.org/officeDocument/2006/relationships" id="273" r:id="R1d7d2a6efcc143a1"/>
    <p:sldId xmlns:r="http://schemas.openxmlformats.org/officeDocument/2006/relationships" id="274" r:id="Ra915b7ba45b34277"/>
    <p:sldId xmlns:r="http://schemas.openxmlformats.org/officeDocument/2006/relationships" id="275" r:id="Rdc59e5db62cb44d4"/>
    <p:sldId xmlns:r="http://schemas.openxmlformats.org/officeDocument/2006/relationships" id="276" r:id="R6f5dcbf44186443a"/>
    <p:sldId xmlns:r="http://schemas.openxmlformats.org/officeDocument/2006/relationships" id="277" r:id="R7889cc5e28c74a51"/>
    <p:sldId xmlns:r="http://schemas.openxmlformats.org/officeDocument/2006/relationships" id="278" r:id="R9a1bf9e66dfe4b8c"/>
    <p:sldId xmlns:r="http://schemas.openxmlformats.org/officeDocument/2006/relationships" id="279" r:id="R3194ae63e22a4d25"/>
    <p:sldId xmlns:r="http://schemas.openxmlformats.org/officeDocument/2006/relationships" id="280" r:id="R3eacdee21548446c"/>
    <p:sldId xmlns:r="http://schemas.openxmlformats.org/officeDocument/2006/relationships" id="281" r:id="Rb74b8c49a0244488"/>
    <p:sldId xmlns:r="http://schemas.openxmlformats.org/officeDocument/2006/relationships" id="282" r:id="Rc7b58e6ee9604d55"/>
    <p:sldId xmlns:r="http://schemas.openxmlformats.org/officeDocument/2006/relationships" id="283" r:id="R302fce54ecbb4ef4"/>
    <p:sldId xmlns:r="http://schemas.openxmlformats.org/officeDocument/2006/relationships" id="284" r:id="R99949e208ca64e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af1d0a03684470" /><Relationship Type="http://schemas.openxmlformats.org/officeDocument/2006/relationships/slideMaster" Target="/ppt/slideMasters/slideMaster1.xml" Id="R9a58e5f65dca4695" /><Relationship Type="http://schemas.openxmlformats.org/officeDocument/2006/relationships/notesMaster" Target="/ppt/notesMasters/notesMaster1.xml" Id="R2af308acdeac4b85" /><Relationship Type="http://schemas.openxmlformats.org/officeDocument/2006/relationships/presProps" Target="/ppt/presProps.xml" Id="Re751100020034141" /><Relationship Type="http://schemas.openxmlformats.org/officeDocument/2006/relationships/tableStyles" Target="/ppt/tableStyles.xml" Id="Rfc815c25e47e4807" /><Relationship Type="http://schemas.openxmlformats.org/officeDocument/2006/relationships/slide" Target="/ppt/slides/slide1.xml" Id="R9a84fb352c054024" /><Relationship Type="http://schemas.openxmlformats.org/officeDocument/2006/relationships/slide" Target="/ppt/slides/slide2.xml" Id="R36a314d63edc4ccc" /><Relationship Type="http://schemas.openxmlformats.org/officeDocument/2006/relationships/slide" Target="/ppt/slides/slide3.xml" Id="R8c0381e329a540b4" /><Relationship Type="http://schemas.openxmlformats.org/officeDocument/2006/relationships/slide" Target="/ppt/slides/slide4.xml" Id="R72e88caf729743a0" /><Relationship Type="http://schemas.openxmlformats.org/officeDocument/2006/relationships/slide" Target="/ppt/slides/slide5.xml" Id="R418f7a37236c46c3" /><Relationship Type="http://schemas.openxmlformats.org/officeDocument/2006/relationships/slide" Target="/ppt/slides/slide6.xml" Id="R98588840ebec4200" /><Relationship Type="http://schemas.openxmlformats.org/officeDocument/2006/relationships/slide" Target="/ppt/slides/slide7.xml" Id="R4426936bbfba44ea" /><Relationship Type="http://schemas.openxmlformats.org/officeDocument/2006/relationships/slide" Target="/ppt/slides/slide8.xml" Id="R9b335f0f3d374105" /><Relationship Type="http://schemas.openxmlformats.org/officeDocument/2006/relationships/slide" Target="/ppt/slides/slide9.xml" Id="Rdf2da5dd1ada458c" /><Relationship Type="http://schemas.openxmlformats.org/officeDocument/2006/relationships/slide" Target="/ppt/slides/slide10.xml" Id="R3c105211f0d54cf4" /><Relationship Type="http://schemas.openxmlformats.org/officeDocument/2006/relationships/slide" Target="/ppt/slides/slide11.xml" Id="R250d1bacba714009" /><Relationship Type="http://schemas.openxmlformats.org/officeDocument/2006/relationships/slide" Target="/ppt/slides/slide12.xml" Id="R015353e7bf78438b" /><Relationship Type="http://schemas.openxmlformats.org/officeDocument/2006/relationships/slide" Target="/ppt/slides/slide13.xml" Id="R6f7a8f7389e741c4" /><Relationship Type="http://schemas.openxmlformats.org/officeDocument/2006/relationships/slide" Target="/ppt/slides/slide14.xml" Id="R13ca157beb6341e6" /><Relationship Type="http://schemas.openxmlformats.org/officeDocument/2006/relationships/slide" Target="/ppt/slides/slide15.xml" Id="R822b1d7ae8834047" /><Relationship Type="http://schemas.openxmlformats.org/officeDocument/2006/relationships/slide" Target="/ppt/slides/slide16.xml" Id="R9e66aec10a504b68" /><Relationship Type="http://schemas.openxmlformats.org/officeDocument/2006/relationships/slide" Target="/ppt/slides/slide17.xml" Id="Rbed2197853254e35" /><Relationship Type="http://schemas.openxmlformats.org/officeDocument/2006/relationships/slide" Target="/ppt/slides/slide18.xml" Id="R1d7d2a6efcc143a1" /><Relationship Type="http://schemas.openxmlformats.org/officeDocument/2006/relationships/slide" Target="/ppt/slides/slide19.xml" Id="Ra915b7ba45b34277" /><Relationship Type="http://schemas.openxmlformats.org/officeDocument/2006/relationships/slide" Target="/ppt/slides/slide20.xml" Id="Rdc59e5db62cb44d4" /><Relationship Type="http://schemas.openxmlformats.org/officeDocument/2006/relationships/slide" Target="/ppt/slides/slide21.xml" Id="R6f5dcbf44186443a" /><Relationship Type="http://schemas.openxmlformats.org/officeDocument/2006/relationships/slide" Target="/ppt/slides/slide22.xml" Id="R7889cc5e28c74a51" /><Relationship Type="http://schemas.openxmlformats.org/officeDocument/2006/relationships/slide" Target="/ppt/slides/slide23.xml" Id="R9a1bf9e66dfe4b8c" /><Relationship Type="http://schemas.openxmlformats.org/officeDocument/2006/relationships/slide" Target="/ppt/slides/slide24.xml" Id="R3194ae63e22a4d25" /><Relationship Type="http://schemas.openxmlformats.org/officeDocument/2006/relationships/slide" Target="/ppt/slides/slide25.xml" Id="R3eacdee21548446c" /><Relationship Type="http://schemas.openxmlformats.org/officeDocument/2006/relationships/slide" Target="/ppt/slides/slide26.xml" Id="Rb74b8c49a0244488" /><Relationship Type="http://schemas.openxmlformats.org/officeDocument/2006/relationships/slide" Target="/ppt/slides/slide27.xml" Id="Rc7b58e6ee9604d55" /><Relationship Type="http://schemas.openxmlformats.org/officeDocument/2006/relationships/slide" Target="/ppt/slides/slide28.xml" Id="R302fce54ecbb4ef4" /><Relationship Type="http://schemas.openxmlformats.org/officeDocument/2006/relationships/slide" Target="/ppt/slides/slide29.xml" Id="R99949e208ca64e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c718d1cf33740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52336151b64ac1" /><Relationship Type="http://schemas.openxmlformats.org/officeDocument/2006/relationships/notesMaster" Target="/ppt/notesMasters/notesMaster1.xml" Id="R6be7ccc2640d4f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6f5183e20e4e13" /><Relationship Type="http://schemas.openxmlformats.org/officeDocument/2006/relationships/notesMaster" Target="/ppt/notesMasters/notesMaster1.xml" Id="R610a74f0d45a49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565147f0904246" /><Relationship Type="http://schemas.openxmlformats.org/officeDocument/2006/relationships/notesMaster" Target="/ppt/notesMasters/notesMaster1.xml" Id="Re466acdc2dae40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a3d1fd49ce4f1c" /><Relationship Type="http://schemas.openxmlformats.org/officeDocument/2006/relationships/notesMaster" Target="/ppt/notesMasters/notesMaster1.xml" Id="R51f26b0999e647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15bf42da644dd" /><Relationship Type="http://schemas.openxmlformats.org/officeDocument/2006/relationships/notesMaster" Target="/ppt/notesMasters/notesMaster1.xml" Id="R67ab0f92bd8744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80d0f70f694c2c" /><Relationship Type="http://schemas.openxmlformats.org/officeDocument/2006/relationships/notesMaster" Target="/ppt/notesMasters/notesMaster1.xml" Id="R179a465a86254d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8bb6a9827b84b45" /><Relationship Type="http://schemas.openxmlformats.org/officeDocument/2006/relationships/notesMaster" Target="/ppt/notesMasters/notesMaster1.xml" Id="R33a04b12685c49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50fdf42a2045b3" /><Relationship Type="http://schemas.openxmlformats.org/officeDocument/2006/relationships/notesMaster" Target="/ppt/notesMasters/notesMaster1.xml" Id="R89134199780042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48c6de7be04f57" /><Relationship Type="http://schemas.openxmlformats.org/officeDocument/2006/relationships/notesMaster" Target="/ppt/notesMasters/notesMaster1.xml" Id="R29e95be09c09457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ca4506216d642bb" /><Relationship Type="http://schemas.openxmlformats.org/officeDocument/2006/relationships/notesMaster" Target="/ppt/notesMasters/notesMaster1.xml" Id="R07d6a30faea74f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79892dacb94a8d" /><Relationship Type="http://schemas.openxmlformats.org/officeDocument/2006/relationships/notesMaster" Target="/ppt/notesMasters/notesMaster1.xml" Id="R8da846b82f904e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bdcb9cfba348d3" /><Relationship Type="http://schemas.openxmlformats.org/officeDocument/2006/relationships/notesMaster" Target="/ppt/notesMasters/notesMaster1.xml" Id="Rd0ef834912c84e8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11b57140ca4b86" /><Relationship Type="http://schemas.openxmlformats.org/officeDocument/2006/relationships/notesMaster" Target="/ppt/notesMasters/notesMaster1.xml" Id="R599d0014ba8a43b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2dbcfd82b574cf1" /><Relationship Type="http://schemas.openxmlformats.org/officeDocument/2006/relationships/notesMaster" Target="/ppt/notesMasters/notesMaster1.xml" Id="R400d480dbc03463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fa0c24d29a4cb6" /><Relationship Type="http://schemas.openxmlformats.org/officeDocument/2006/relationships/notesMaster" Target="/ppt/notesMasters/notesMaster1.xml" Id="Rea2b67d8fec44bb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6ccaa36a5064079" /><Relationship Type="http://schemas.openxmlformats.org/officeDocument/2006/relationships/notesMaster" Target="/ppt/notesMasters/notesMaster1.xml" Id="Re9cafe27adbe4ca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0c500e95a1349d2" /><Relationship Type="http://schemas.openxmlformats.org/officeDocument/2006/relationships/notesMaster" Target="/ppt/notesMasters/notesMaster1.xml" Id="R8cc777f7899e45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c924062fcf64d31" /><Relationship Type="http://schemas.openxmlformats.org/officeDocument/2006/relationships/notesMaster" Target="/ppt/notesMasters/notesMaster1.xml" Id="R754607b057f04cf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197516fc0574585" /><Relationship Type="http://schemas.openxmlformats.org/officeDocument/2006/relationships/notesMaster" Target="/ppt/notesMasters/notesMaster1.xml" Id="R3ba210157375468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3fcb419adbe4854" /><Relationship Type="http://schemas.openxmlformats.org/officeDocument/2006/relationships/notesMaster" Target="/ppt/notesMasters/notesMaster1.xml" Id="Rd64b9e36e19a4a4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9e18e0e818410d" /><Relationship Type="http://schemas.openxmlformats.org/officeDocument/2006/relationships/notesMaster" Target="/ppt/notesMasters/notesMaster1.xml" Id="R33318f64972144e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a07a2d8ccb47ec" /><Relationship Type="http://schemas.openxmlformats.org/officeDocument/2006/relationships/notesMaster" Target="/ppt/notesMasters/notesMaster1.xml" Id="R259966c26592437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140037ff7114019" /><Relationship Type="http://schemas.openxmlformats.org/officeDocument/2006/relationships/notesMaster" Target="/ppt/notesMasters/notesMaster1.xml" Id="Rea6e88fbd98b4a9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bf59eb99bf34450" /><Relationship Type="http://schemas.openxmlformats.org/officeDocument/2006/relationships/notesMaster" Target="/ppt/notesMasters/notesMaster1.xml" Id="Rd75b7ee67dff49a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759f9e48fa24c96" /><Relationship Type="http://schemas.openxmlformats.org/officeDocument/2006/relationships/notesMaster" Target="/ppt/notesMasters/notesMaster1.xml" Id="R8897397a6bac4ad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05ddd1f6f1a44d4" /><Relationship Type="http://schemas.openxmlformats.org/officeDocument/2006/relationships/notesMaster" Target="/ppt/notesMasters/notesMaster1.xml" Id="R644e6202d22148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13c32e20b0d4d29" /><Relationship Type="http://schemas.openxmlformats.org/officeDocument/2006/relationships/notesMaster" Target="/ppt/notesMasters/notesMaster1.xml" Id="R89c79669128b446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dda313608274523" /><Relationship Type="http://schemas.openxmlformats.org/officeDocument/2006/relationships/notesMaster" Target="/ppt/notesMasters/notesMaster1.xml" Id="Rf645689b2b42447f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c0e1a1a51bbe4a97" /><Relationship Type="http://schemas.openxmlformats.org/officeDocument/2006/relationships/notesMaster" Target="/ppt/notesMasters/notesMaster1.xml" Id="Re69bb66a238b42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RAPID는 RobotStudio 전용 스크립트가 아니라 ABB 로봇 컨트롤러가 실행하는 언어라는 점부터 시작한다.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세 용어의 경계를 잡아 주면 이후 질문이 훨씬 쉬워진다.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https://destination-zukunft.abb.com/robotik/abb-steuerungen-von-der-revolutionaeren-s1-bis-omnicore/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OpenAI ImageGen — project-bound illustration generated 2026-08-10; prompt record: tmp/rapid_server_study/image-prompts.txt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한 개인의 작품이라기보다 ABB 제어기 개발의 산물로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Station과 Controller Browser를 함께 보여 주면 좋다.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로봇 전환을 독립 단계로 강조한다.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실행 계층을 먼저 보여 주고 문법으로 이동한다.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RobotStudio에서 직접 입력해 빌드 오류를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언어가 강제하지 않는 부분을 팀 스타일로 정한다.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변수 선언보다 수명과 복구 의미를 먼저 묻는다.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robtarget의 네 덩어리는 다음 덱에서 자세히 다룬다.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짧은 예제를 펜으로 평가하게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분기 구조와 실제 안전 기능을 구분한다.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상태 머신 덱으로 이어지는 발판이다.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실제 코드에서 종료 가능성을 먼저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세 루틴은 호출 방식과 실행 맥락이 다르다.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선언부만 보고 부작용을 예측할 수 있게 만든다.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구조화의 이유를 유지보수와 복구 관점에서 설명한다.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전역 범위를 줄이면 결합도가 낮아진다.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좋은 주석과 나쁜 주석을 비교한다.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https://library.e.abb.com/public/2d3f6462e9cb4ed0b4f230011a8d7087/3HAC098390%20TRM%20RAPID%20Instructions%20RW%208-en.pdf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명령 자체보다 시퀀스 패턴을 읽는다.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어느 쪽이 최신인지 확인한 뒤 동기화한다.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중단 후 재개 절차의 핵심 개념이다.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https://developercenter.robotstudio.com/api/rwsApi/</a:t>
            </a:r>
          </a:p>
          <a:p xmlns:a="http://schemas.openxmlformats.org/drawingml/2006/main">
            <a:r>
              <a:t>- https://developercenter.robotstudio.com/api/RWS?urls.primaryName=File+Service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이 자료는 RW8 중심이며 RW6/7 차이는 문서로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오류 메시지를 읽고 최소 재현 코드로 줄인다.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워크북 LAB 01과 연결한다.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https://developercenter.robotstudio.com/api/robotstudio/articles/Concepts/Rapid/What-is-Rapid.html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세 용어를 섞지 않고 설명하는지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스타일 규칙의 이유를 말하게 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https://new.abb.com/products/robotics/software-and-digital/robotstudio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4개 덱의 학습 순서를 안내한다.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https://library.e.abb.com/public/3ccc2919e3a849b1b08033863c35c53c/3HAC098389%20TRM%20RAPID%20Overview%20RW%208-en.pdf</a:t>
            </a:r>
          </a:p>
          <a:p xmlns:a="http://schemas.openxmlformats.org/drawingml/2006/main">
            <a:r>
              <a:t>- https://library.e.abb.com/public/e801a2006203436e8f175f5f4405928f/3HAC098393%20AM%20Controller%20software%20OmniCore%20RW%208-en.pdf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첫 덱을 구조와 스타일 원칙으로 마무리한다.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851c74f2b46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fa7b87a5a94c39" /><Relationship Type="http://schemas.openxmlformats.org/officeDocument/2006/relationships/slideLayout" Target="/ppt/slideLayouts/slideLayout1.xml" Id="Rc5eae3e156214e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eae3e156214e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e2ba8d2d5f475c" /><Relationship Type="http://schemas.openxmlformats.org/officeDocument/2006/relationships/image" Target="/ppt/media/image.png" Id="R43a9ecca9cd348da" /><Relationship Type="http://schemas.openxmlformats.org/officeDocument/2006/relationships/notesSlide" Target="/ppt/notesSlides/notesSlide1.xml" Id="R4a2664b60dbf48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6a356e3c84f1f" /><Relationship Type="http://schemas.openxmlformats.org/officeDocument/2006/relationships/notesSlide" Target="/ppt/notesSlides/notesSlide2.xml" Id="R95d95f866cf649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fa28da15447d9" /><Relationship Type="http://schemas.openxmlformats.org/officeDocument/2006/relationships/image" Target="/ppt/media/image2.png" Id="R2f5ef112098c41e2" /><Relationship Type="http://schemas.openxmlformats.org/officeDocument/2006/relationships/notesSlide" Target="/ppt/notesSlides/notesSlide3.xml" Id="R5d09a194c3f14a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b64c3a03543d3" /><Relationship Type="http://schemas.openxmlformats.org/officeDocument/2006/relationships/notesSlide" Target="/ppt/notesSlides/notesSlide4.xml" Id="R8eeb4d7560da47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b70bdce76480e" /><Relationship Type="http://schemas.openxmlformats.org/officeDocument/2006/relationships/notesSlide" Target="/ppt/notesSlides/notesSlide5.xml" Id="Rc8da139456f440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0811bfaec4ec2" /><Relationship Type="http://schemas.openxmlformats.org/officeDocument/2006/relationships/notesSlide" Target="/ppt/notesSlides/notesSlide6.xml" Id="Rfc8911302f3c4c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861e65c04b00" /><Relationship Type="http://schemas.openxmlformats.org/officeDocument/2006/relationships/notesSlide" Target="/ppt/notesSlides/notesSlide7.xml" Id="R6249f56c1d86454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28d25a83342ca" /><Relationship Type="http://schemas.openxmlformats.org/officeDocument/2006/relationships/notesSlide" Target="/ppt/notesSlides/notesSlide8.xml" Id="R46178668903949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e1643fc17c4e00" /><Relationship Type="http://schemas.openxmlformats.org/officeDocument/2006/relationships/notesSlide" Target="/ppt/notesSlides/notesSlide9.xml" Id="R89bd93d1c15d4d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305d9a1324105" /><Relationship Type="http://schemas.openxmlformats.org/officeDocument/2006/relationships/notesSlide" Target="/ppt/notesSlides/notesSlide10.xml" Id="R4e577f3f877841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41c9214054747" /><Relationship Type="http://schemas.openxmlformats.org/officeDocument/2006/relationships/notesSlide" Target="/ppt/notesSlides/notesSlide11.xml" Id="R7c3d5293f4e94d1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f54f16e0f4fb8" /><Relationship Type="http://schemas.openxmlformats.org/officeDocument/2006/relationships/notesSlide" Target="/ppt/notesSlides/notesSlide12.xml" Id="R938114901ea84b4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4ade1b2ac4a27" /><Relationship Type="http://schemas.openxmlformats.org/officeDocument/2006/relationships/notesSlide" Target="/ppt/notesSlides/notesSlide13.xml" Id="R2e50cb8317c24f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ccff702a24c7b" /><Relationship Type="http://schemas.openxmlformats.org/officeDocument/2006/relationships/notesSlide" Target="/ppt/notesSlides/notesSlide14.xml" Id="R0a91bedf501546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68215f30248ed" /><Relationship Type="http://schemas.openxmlformats.org/officeDocument/2006/relationships/notesSlide" Target="/ppt/notesSlides/notesSlide15.xml" Id="Rfd34818393c940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0e834eae6468d" /><Relationship Type="http://schemas.openxmlformats.org/officeDocument/2006/relationships/notesSlide" Target="/ppt/notesSlides/notesSlide16.xml" Id="Rc2aa5f60bcdf4fe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0e6ff5e5f4a08" /><Relationship Type="http://schemas.openxmlformats.org/officeDocument/2006/relationships/notesSlide" Target="/ppt/notesSlides/notesSlide17.xml" Id="R9ce786bb335e4ff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d14fa83a394736" /><Relationship Type="http://schemas.openxmlformats.org/officeDocument/2006/relationships/notesSlide" Target="/ppt/notesSlides/notesSlide18.xml" Id="Rcd99e1e399f9458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32ebcdf59246b8" /><Relationship Type="http://schemas.openxmlformats.org/officeDocument/2006/relationships/notesSlide" Target="/ppt/notesSlides/notesSlide19.xml" Id="R539d1d805b4c4b3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95fa218f04e42" /><Relationship Type="http://schemas.openxmlformats.org/officeDocument/2006/relationships/notesSlide" Target="/ppt/notesSlides/notesSlide20.xml" Id="Rcfb6d3dc29d1470b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fc6ef85db24e2e" /><Relationship Type="http://schemas.openxmlformats.org/officeDocument/2006/relationships/notesSlide" Target="/ppt/notesSlides/notesSlide21.xml" Id="R4c2a3efb5c67480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97be7cce4419e" /><Relationship Type="http://schemas.openxmlformats.org/officeDocument/2006/relationships/notesSlide" Target="/ppt/notesSlides/notesSlide22.xml" Id="R3b9c2f9657854f0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9568ce49e4731" /><Relationship Type="http://schemas.openxmlformats.org/officeDocument/2006/relationships/notesSlide" Target="/ppt/notesSlides/notesSlide23.xml" Id="R2a44f99b37bf424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c3f3928d84ff2" /><Relationship Type="http://schemas.openxmlformats.org/officeDocument/2006/relationships/notesSlide" Target="/ppt/notesSlides/notesSlide24.xml" Id="Rb8e77277ee1c4e7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20973c2f454b61" /><Relationship Type="http://schemas.openxmlformats.org/officeDocument/2006/relationships/notesSlide" Target="/ppt/notesSlides/notesSlide25.xml" Id="R0991f6f91e7a45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6d5357c064ff4" /><Relationship Type="http://schemas.openxmlformats.org/officeDocument/2006/relationships/notesSlide" Target="/ppt/notesSlides/notesSlide26.xml" Id="Rb1ac3e2f22cc459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ef155b41a24701" /><Relationship Type="http://schemas.openxmlformats.org/officeDocument/2006/relationships/notesSlide" Target="/ppt/notesSlides/notesSlide27.xml" Id="R6909715bc9c44c0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a2ec7d1094d9c" /><Relationship Type="http://schemas.openxmlformats.org/officeDocument/2006/relationships/notesSlide" Target="/ppt/notesSlides/notesSlide28.xml" Id="R568afe2dbfcf4d1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9980b55b04a71" /><Relationship Type="http://schemas.openxmlformats.org/officeDocument/2006/relationships/notesSlide" Target="/ppt/notesSlides/notesSlide29.xml" Id="Ra09513ff7f444e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9ecca9cd348da"/>
          <a:srcRect xmlns:a="http://schemas.openxmlformats.org/drawingml/2006/main" l="25378" t="0" r="253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8FA302-F656-45EE-8193-CF50D655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CE675F-4DA6-414A-A53D-D87D59AA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3400"/>
            <a:ext cx="495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ABB ROBOTICS · FOUNDATION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BBB68-82EA-4240-AACC-60A57AA3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519112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RAPID와</a:t>
            </a:r>
          </a:p>
          <a:p xmlns:a="http://schemas.openxmlformats.org/drawingml/2006/main">
            <a:pPr algn="l">
              <a:def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RobotStudio 기초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9F5335-C09A-46D3-B963-C4A7F074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67125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역사 · 실행 구조 · 문법 · 작성 스타일을</a:t>
            </a:r>
          </a:p>
          <a:p xmlns:a="http://schemas.openxmlformats.org/drawingml/2006/main">
            <a:pPr algn="l">
              <a:def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프로그래밍 첫 시간처럼 배우기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2170F4-CE80-48AC-A40B-42D24559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0272B7-5F32-452F-8029-638F9D5F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10200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입문→실습→통합 · 2026</a:t>
            </a:r>
          </a:p>
        </p:txBody>
      </p:sp>
    </p:spTree>
    <p:extLst>
      <p:ext uri="{BB962C8B-B14F-4D97-AF65-F5344CB8AC3E}">
        <p14:creationId xmlns:p14="http://schemas.microsoft.com/office/powerpoint/2010/main" val="8245120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0AEB4E-D28C-49F3-9618-23465293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A7BEE5-F86D-4B18-B504-0C8C4A24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RAPID는 로봇 컨트롤러의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 언어다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1360C-1CCA-4929-AE58-8510F80B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RobotStudio는 작성·시뮬레이션 환경이고, RobotWare가 코드를 실제로 실행한다.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91012-7D3C-44D3-B642-E51B14B5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9758A-AE63-46B6-ADED-7CAC267C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언어 · 개발 환경 · 실행 플랫폼을 서로 구분한다.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78159-4867-477E-97D8-1CDF8D9E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061363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B99D50-2A7D-4D8F-A453-FBC60FF8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F51C3-3A30-4C88-9013-5D37CA3D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1994년 S4와 함께 시작된 언어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EC0AD-8DA0-4A0A-9A67-71C89A4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0A4B3F-0AA5-49BB-AB80-F21A4303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ef112098c41e2"/>
          <a:srcRect xmlns:a="http://schemas.openxmlformats.org/drawingml/2006/main" l="5027" t="0" r="50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581150"/>
            <a:ext cx="6667500" cy="4171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C254D0-6163-41C0-8DED-937FCAE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714500"/>
            <a:ext cx="3714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세대는 바뀌어도</a:t>
            </a:r>
          </a:p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RAPID의 역할은 이어졌다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AA554-8AD1-435E-8DFB-547B125C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81300"/>
            <a:ext cx="37147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S4에서 고급 로봇 언어로 등장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IRC5와 OmniCore로 제어 플랫폼 진화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현재 RobotWare 8에서도 핵심 실행 언어</a:t>
            </a:r>
          </a:p>
        </p:txBody>
      </p:sp>
    </p:spTree>
    <p:extLst>
      <p:ext uri="{BB962C8B-B14F-4D97-AF65-F5344CB8AC3E}">
        <p14:creationId xmlns:p14="http://schemas.microsoft.com/office/powerpoint/2010/main" val="15706873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18439-1980-4B6D-9158-1F716164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83598-54A2-4C2B-A527-DA3743C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RobotStudio와 RobotWare는 무엇이 다른가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32C030-63D0-47BF-8890-8DCB4093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A51BD-5E42-4DDF-B929-4BE5BB3C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BF1F2-E013-475E-B8C9-8892D834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FA36E-D985-4620-9B66-70E62580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E07E2B-9BBB-48FB-94CD-5CA0667D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RobotWare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9FAD4-3CE0-47B4-8FB7-8EBE96FD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PC에서 Station과 CAD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RAPID 편집·동기화·디버깅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Virtual Controller로 사전 검증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AF38D4-834B-46A1-BF6C-278E0FB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ABB 컨트롤러의 시스템 소프트웨어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RAPID Task와 I/O를 실제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모션·옵션·사용자 권한 관리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C2634-8B6F-4676-96B5-FA978F78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같은 코드를 시뮬레이션과 실제 제어기에서 검증하되 환경 차이는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842739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E491E-B68E-4132-9986-BCF08B98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D246F-BBB5-48A8-B544-903C4B5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작성부터 실제 운전까지의 기본 흐름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A1D18-3B50-412C-AE27-CCB91846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F3506-D36E-4D6F-89E9-E17FF058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1311A-D54A-40D9-98D6-2CA6A48B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124738-89FC-4485-A710-64B6D4AA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CC9EE-1B85-4F81-B473-0375635F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5D3D2D-0139-4436-9FB5-20B4EE1E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Station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로봇·공구·CAD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F1D05B-D647-4A78-9C9D-83F5322F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데이터·루틴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3A887-BCDF-404A-AA60-CEF046BE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Virtual Controller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실행·충돌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055B99-76AF-45F0-B988-686CA5BE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Real Controller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전송·저속 검증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C8447E-0EB9-4A32-B8A7-F6F3DA97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시뮬레이션은 위험을 줄이지만 실기기 승인 절차를 대신하지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13EC81-1063-4AE0-B104-0D6D5453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실제 셀에서는 TCP·하중·좌표·주변 설비를 다시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4214683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18F53F-0367-4DF5-A9E1-F576407E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3E4E0-8E2F-4AA8-B95A-0F9A12C9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프로그램은 Task → Module → Routine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6FB410-9BED-498D-AB80-0EB7228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D6EB02-B342-4B86-9E22-71CBA12C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32A12C-66EA-41F0-9277-6A901C4B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28B6AB-F9FF-4BBB-9F08-FE97C2E3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431B3-52C5-4645-B6B7-415D1B7F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85BD67-5DAE-40EF-8CB4-EBA7E372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Task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실행 단위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FA84D-2C9C-48A2-9FC5-D095BF5D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Module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코드 묶음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7DCC0D-469B-48C6-AD1A-EB5F845C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Routine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PROC·FUNC·TRAP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A2E605-1DDD-4E8B-83E0-A04906A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Instruction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MoveL·SetDO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71D080-C906-4142-9F9F-C8F5A98E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큰 구조에서 작은 문장으로 내려가며 읽는다.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79211A-5A16-4EDA-AD42-36C53569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초보자는 main이 있는 Module부터 따라가면 된다.</a:t>
            </a:r>
          </a:p>
        </p:txBody>
      </p:sp>
    </p:spTree>
    <p:extLst>
      <p:ext uri="{BB962C8B-B14F-4D97-AF65-F5344CB8AC3E}">
        <p14:creationId xmlns:p14="http://schemas.microsoft.com/office/powerpoint/2010/main" val="8046910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50168-071F-4932-947E-C033A13DA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4A124-B62F-42BD-9F02-842CE967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가장 작은 RAPID 프로그램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91B0DB-928E-4AB4-BF32-4659DE20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F30C8-4998-4C04-A89E-6DFF3F74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F6602-A5B2-43BD-A795-C4535E73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MODULE MainModule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PROC main()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  TPWrite "Hello RAPID";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ENDPROC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ENDMODULE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3253AD-290E-46D6-9BEC-D66399F9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42DFB1-1E56-4077-9FD3-D0FA0E0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MODULE과 ENDMODULE이 파일 범위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PROC main()이 시작 루틴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모든 명령은 세미콜론으로 종료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7BC0C0-296D-47F6-BD23-3EF7E756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대소문자보다 철자·구조·세미콜론이 중요하다.</a:t>
            </a:r>
          </a:p>
        </p:txBody>
      </p:sp>
    </p:spTree>
    <p:extLst>
      <p:ext uri="{BB962C8B-B14F-4D97-AF65-F5344CB8AC3E}">
        <p14:creationId xmlns:p14="http://schemas.microsoft.com/office/powerpoint/2010/main" val="21087184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2C5E5-1C11-4716-ACFC-0E216655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E12DA6-59FA-497B-B8EB-5E2CABD7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식별자와 들여쓰기 스타일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6CE8E9-9A56-48DF-9B35-EF8BB0CF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283FC-8A5B-4114-9B4E-A38CE557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9663F-0C62-4C33-9191-A8887300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B59DB9-6A3A-4C4C-AAE5-594BEAFC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현장에서 읽는 사람이 다음 동작을 예측해야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26BF0F-D562-4997-9FC9-F9120616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C04E4-1D72-4C2B-8D2C-2CF9A0BC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동사+대상: PickPart, OpenGripper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PERS는 p_, VAR는 v_처럼 팀 규칙 통일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한 루틴은 한 책임, 깊은 중첩은 분리</a:t>
            </a:r>
          </a:p>
        </p:txBody>
      </p:sp>
    </p:spTree>
    <p:extLst>
      <p:ext uri="{BB962C8B-B14F-4D97-AF65-F5344CB8AC3E}">
        <p14:creationId xmlns:p14="http://schemas.microsoft.com/office/powerpoint/2010/main" val="10062036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159B39-C9BB-44A9-8C3C-49F87E9B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F17CE-DCED-4ACF-B37F-E17A5343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VAR · PERS · CONST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53A4A-554A-415E-9464-01457623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E4DE6-0612-42C0-BE37-E06F931F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E2E59F-D0AB-4CF9-9171-5BFE7748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A5C16-A512-42FE-91E3-CC9D2C1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수명과 변경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7B918-5C7D-450A-8EF2-F258C3BC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선택 질문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F263F1-7B1D-451B-A947-D6BF723C7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VAR: 실행 중 임시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PERS: 저장되는 운전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CONST: 바뀌지 않는 상수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C3D47-44D7-4BAC-8F6F-FBDCB3B3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재시작 후 남아야 하는가?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현장 보정 값인가?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코드 의미를 고정하는 값인가?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C03AA-C851-4AEC-B075-2B65337F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데이터 수명 선택이 잘못되면 재시작 뒤 예상치 못한 동작이 생긴다.</a:t>
            </a:r>
          </a:p>
        </p:txBody>
      </p:sp>
    </p:spTree>
    <p:extLst>
      <p:ext uri="{BB962C8B-B14F-4D97-AF65-F5344CB8AC3E}">
        <p14:creationId xmlns:p14="http://schemas.microsoft.com/office/powerpoint/2010/main" val="8463979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78B03-35A5-4A74-8AB5-25F33D7F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3A649B-B05F-4B9C-BD1E-C21A5698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기본 데이터 선언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F724E-F0E1-4592-8217-3B4FD852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DBB05-A73F-4C7A-9239-06E7A5AA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DC8C9-3B34-4DCF-8C1D-A2FF9F5F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CONST num MAX_RETRY := 3;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PERS num pPartCount := 0;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VAR bool vReady := FALSE;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VAR string vJobId := "";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VAR robtarget pHome := [[500,0,600],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[1,0,0,0],[0,0,0,0],[9E9,9E9,9E9,9E9,9E9,9E9]];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FC8FA-B883-454E-B2DA-4FFF5BD2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6CA9B-9A5F-4C1A-8A57-3974AF98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num·bool·string은 일반 로직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robtarget은 위치+자세+구성+외부축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초기값을 선언부에서 명시</a:t>
            </a:r>
          </a:p>
        </p:txBody>
      </p:sp>
    </p:spTree>
    <p:extLst>
      <p:ext uri="{BB962C8B-B14F-4D97-AF65-F5344CB8AC3E}">
        <p14:creationId xmlns:p14="http://schemas.microsoft.com/office/powerpoint/2010/main" val="16922615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8F78F-8C97-4902-A0B8-5F480AF2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D2626D-F8DF-4042-89A7-C3C1F74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연산자와 대입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899302-6A97-40B4-B024-A63FD35BF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0E31D9-093D-4685-A20D-0DCB7A38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34C63-CF45-4869-BAD2-159C68FC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:=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E2718-D812-4D1F-956F-DA7F4BD5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왼쪽 저장소에 오른쪽 계산 결과를 넣는다.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2EBAE-82C8-4432-88FA-E0D7E7A8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DB109-BA4E-4980-B587-FC3D6FA44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산술: + - * 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비교: = &lt;&gt; &lt; &gt; &lt;= &gt;=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논리: AND OR NOT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A24F53-2D02-4E24-989F-AABEB727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조건식과 대입을 혼동하지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6157789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1EF357-9BED-4C1E-91E4-0C4A4D06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E9DA49-14DA-4FD0-9A5A-86ED8CC5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IF로 조건 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D6B00-2D08-457B-9A7A-60DA93A7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0B54A8-8B7E-406A-9032-12A3E5EE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1D2D3F-9798-454A-B360-9806C37D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IF diPartReady = 1 THEN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SetDO doGripperClose, 1;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ELSE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TPWrite "Part not ready";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ENDIF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0742C-6E2C-4FD5-8A42-69CC83B41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A5C43-DE36-401C-9B68-48DEF4DA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조건이 TRUE인 경로만 실행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ELSE는 선택 사항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인터록은 실패 경로도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F747B9-8962-4C2C-A72F-C6595301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센서 하나만 믿고 위험 동작을 바로 시작하지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9233016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3A7B72-E2C4-48D3-88EC-6433CF93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C68D9-C169-4AB6-8A1D-FBC34CB0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TEST로 상태를 명시적으로 나누기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AAF4EF-8FE5-4077-8D0D-605EEC3D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E3805F-C653-4D33-B474-C61F5819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6AD2B-713C-4EBC-83D5-2042E92E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TEST vState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CASE 0: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InitCell;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CASE 10: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RunCycle;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CASE 90: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RecoverCell;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DEFAULT: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Stop;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024E21-560B-4EBE-938B-979732A8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78716-2742-4871-83E6-5B455A5D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상태 값별 동작이 한눈에 보임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DEFAULT로 알 수 없는 상태 처리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CASE마다 책임을 짧게 유지</a:t>
            </a:r>
          </a:p>
        </p:txBody>
      </p:sp>
    </p:spTree>
    <p:extLst>
      <p:ext uri="{BB962C8B-B14F-4D97-AF65-F5344CB8AC3E}">
        <p14:creationId xmlns:p14="http://schemas.microsoft.com/office/powerpoint/2010/main" val="48558262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3AA8E2-8417-4766-953F-0713F8E1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31858-6E67-4832-8E48-3C666A29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FOR와 WHILE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0D9803-E8B7-44AA-B343-6CAE63C9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9856B-E0D9-4D70-AC87-5F0A4068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C89CFD-DC3E-4DCC-9D13-518509672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066FC2-30E9-43C3-99D0-EBDB6B1E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FOR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B7B8-E9BF-459B-BA3F-8EF0205E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WHILE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2FF353-B03A-433E-826D-21085E7A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반복 횟수가 분명할 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인덱스로 배열·포인트 순회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종료 조건이 구조에 보임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DB7C8-BC1E-4937-BE59-C3BA8F1B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상태가 유지되는 동안 반복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타임아웃·종료 플래그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무한 루프와 Cycle time 주의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7FBBA4-C9EC-4D4D-A535-3AE30D356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11365896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07F0E8-1E72-41D8-A640-FAD29C56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E3F067-52D4-4D13-BA49-22038E72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PROC · FUNC · TRAP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39396-6CBC-44B4-B3F3-2D247675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DEB48-B64B-460B-B783-7B887574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290B2-0161-4B9E-8984-C5204AC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PROC OpenGripper()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SetDO doGrip,0;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ENDPROC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FUNC bool IsReady()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RETURN diReady=1;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ENDFUNC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TRAP OnStop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Stop;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C8D8AB-C2A2-416B-A8E8-497C22FB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2E2F1D-D32B-4B88-9E4B-EE3E598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PROC: 동작 수행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FUNC: 값을 계산해 반환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TRAP: 인터럽트 발생 시 실행</a:t>
            </a:r>
          </a:p>
        </p:txBody>
      </p:sp>
    </p:spTree>
    <p:extLst>
      <p:ext uri="{BB962C8B-B14F-4D97-AF65-F5344CB8AC3E}">
        <p14:creationId xmlns:p14="http://schemas.microsoft.com/office/powerpoint/2010/main" val="82944047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75AEB-5CEB-4E52-BF55-64D52C93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A61C9-1AB1-4907-98CF-9994E0854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매개변수는 계약이다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01B0C1-1367-406E-9B10-8966F3BE6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063133-70B8-4DF5-916E-2C0E7AA0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942B58-96A3-4A13-9B95-03F5E3C7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IN/OUT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847C6-DB74-418F-B148-43640100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호출하는 쪽과 루틴의 책임을 명확히 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44F71-07E2-4F25-8EEA-9B1853BD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AF076-A390-44BE-B05B-F503AAC1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입력은 읽기 전용처럼 취급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OUT·INOUT은 변경 의도를 이름에 표시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참조 데이터는 단위와 좌표계를 문서화</a:t>
            </a:r>
          </a:p>
        </p:txBody>
      </p:sp>
    </p:spTree>
    <p:extLst>
      <p:ext uri="{BB962C8B-B14F-4D97-AF65-F5344CB8AC3E}">
        <p14:creationId xmlns:p14="http://schemas.microsoft.com/office/powerpoint/2010/main" val="12972728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FCDE34-AD66-44F7-89B9-17F760EC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D5C2FF-E4E0-4FAD-A9F3-11A15966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main은 오케스트레이터로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03025-7636-4A89-9AA2-6036F650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3E3C07-3A78-4AFF-9848-2FD964AF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081CC-4DFA-434A-906C-F963FE38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E7930F-68AE-4D2F-AEEE-010284AE5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2C42CE-655F-4311-BEA6-851226A2E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A6454B-4F51-4EEF-95F7-EF579590C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Init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신호·상태 초기화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75525-AC41-4CBC-BF91-596464E0F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Wait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작업 조건 대기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6DFF2A-1C2F-4C58-9D80-55B0617C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Execute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짧은 작업 루틴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8F06B9-ECF0-44A0-8431-9E038DC3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Report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결과·복구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162EB1-FF8F-41A3-A6FC-A6FBCE69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세부 모션과 통신 파싱을 main에 모두 넣지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485FD4-B82D-477C-8E04-AD67B5E1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작은 루틴은 테스트·재사용·복구가 쉽다.</a:t>
            </a:r>
          </a:p>
        </p:txBody>
      </p:sp>
    </p:spTree>
    <p:extLst>
      <p:ext uri="{BB962C8B-B14F-4D97-AF65-F5344CB8AC3E}">
        <p14:creationId xmlns:p14="http://schemas.microsoft.com/office/powerpoint/2010/main" val="17870104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ED466-B080-445C-B2D7-1B1D62D8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BD8E5-4976-429F-A2FA-59AC3553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Global과 LOCAL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4B983-268B-436F-8531-4DB587BB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AD629A-5E69-4B1D-86FC-E869B371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9E92C9-D5D9-4FFF-BBB7-D26C5D03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B01E2-F5F2-47BA-B23A-16FFB193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공개가 필요한 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EB4D5-8C96-4639-8174-F345F352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LOCAL로 숨길 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EA1EB-AA2C-4AEA-B1C5-D133228C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main과 외부 호출 루틴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다른 모듈이 공유할 데이터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명확한 모듈 인터페이스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5B03D-361C-4876-B8B4-62C85AAB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내부 도우미 루틴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임시 상태와 구현 세부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충돌하기 쉬운 일반 이름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6E3B7F-DD65-4BB3-94AD-62F97BD9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구분 기준을 먼저 정하면 구현 선택이 단순해진다.</a:t>
            </a:r>
          </a:p>
        </p:txBody>
      </p:sp>
    </p:spTree>
    <p:extLst>
      <p:ext uri="{BB962C8B-B14F-4D97-AF65-F5344CB8AC3E}">
        <p14:creationId xmlns:p14="http://schemas.microsoft.com/office/powerpoint/2010/main" val="20278266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7C9D71-F2D6-486A-8BBF-28CD19AC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A7EE1-2D9A-4A85-8984-C8240142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주석은 ‘왜’를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25D68-3235-4CAF-96B6-2F241CE7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14A94-3565-4C06-87DA-1E684C3B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1CB8-5B9F-4F41-9151-A9D2F87A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WHY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1CCB80-2095-44F3-B285-10D97E04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코드가 이미 말하는 내용을 다시 쓰지 않는다.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CE3FA-A4D7-47F9-BD2F-880596B0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95DED-AF1F-45B4-97C3-569893A9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현장 제약·보정 이유·실패 조건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단위, 좌표계, 신호 의미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임시 우회는 제거 조건과 담당 기록</a:t>
            </a:r>
          </a:p>
        </p:txBody>
      </p:sp>
    </p:spTree>
    <p:extLst>
      <p:ext uri="{BB962C8B-B14F-4D97-AF65-F5344CB8AC3E}">
        <p14:creationId xmlns:p14="http://schemas.microsoft.com/office/powerpoint/2010/main" val="113109699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6B355B-3121-4457-B10E-0680E7B1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E406D2-B448-40BB-BFFC-E256BDFB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의도가 보이는 루틴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3A23F-6778-4FEE-8CFD-26FD13CF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6C48AF-4BA7-42F7-B73C-B1A1CF9C8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BD31A-3EBC-4DF0-A19F-803A477E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7048500" cy="4210050"/>
          </a:xfrm>
          <a:prstGeom xmlns:a="http://schemas.openxmlformats.org/drawingml/2006/main" prst="roundRect">
            <a:avLst>
              <a:gd name="adj" fmla="val 2715"/>
            </a:avLst>
          </a:prstGeom>
          <a:solidFill xmlns:a="http://schemas.openxmlformats.org/drawingml/2006/main">
            <a:srgbClr val="171A1F"/>
          </a:solidFill>
          <a:ln xmlns:a="http://schemas.openxmlformats.org/drawingml/2006/main" w="9525">
            <a:solidFill>
              <a:srgbClr val="171A1F"/>
            </a:solidFill>
            <a:prstDash val="solid"/>
          </a:ln>
        </p:spPr>
        <p:txBody>
          <a:bodyPr xmlns:a="http://schemas.openxmlformats.org/drawingml/2006/main" wrap="square" lIns="228600" tIns="190500" rIns="19050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PROC PickPart(robtarget pPick)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MoveJ Offs(pPick,0,0,100), v500, z50, toolGrip\WObj:=wobjTable;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WaitDI diPartPresent,1\MaxTime:=2;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MoveL pPick, v100, fine, toolGrip\WObj:=wobjTable;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SetDO doGrip,1;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  MoveL Offs(pPick,0,0,100), v200, z10, toolGrip\WObj:=wobjTable;</a:t>
            </a:r>
          </a:p>
          <a:p xmlns:a="http://schemas.openxmlformats.org/drawingml/2006/main">
            <a:pPr algn="l">
              <a:defRPr sz="1500" b="0">
                <a:solidFill>
                  <a:srgbClr val="F7F8FA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7F8FA"/>
                </a:solidFill>
                <a:latin typeface="Consolas"/>
                <a:ea typeface="Consolas"/>
                <a:cs typeface="Consolas"/>
              </a:rPr>
              <a:t>ENDPROC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AC9F9-1245-4005-ACD6-4D6B0411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52600"/>
            <a:ext cx="3238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읽는 순서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58CB7-8810-4807-BCCA-C8CE62F36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00300"/>
            <a:ext cx="3333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접근→확인→작업→이탈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tool과 wobj를 명시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대기에는 타임아웃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E565FF-2EE3-4E3C-AA37-74E039E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486400"/>
            <a:ext cx="3333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예제는 시뮬레이션용이며 실기기 안전 검증이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4188513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FAB80-F626-4961-AF6C-59E0121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091FA-4CDE-47D1-8225-79D79351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Station과 Controller Browser를 구분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F554F6-8545-4903-83B6-93A64D4C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547EE-F797-419D-8BAE-F99062D6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D58E7A-3A7F-4A41-A46B-AD40D983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7538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12A444-F362-4483-A6CC-13FC7816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D9FAC-033D-4B1C-BA22-C4EAD67E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3" y="3009900"/>
            <a:ext cx="2857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EC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7B88E-950A-42C9-A3A1-71D6D7AC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Station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그래픽·Targets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2126A-2C0B-4901-8BEF-CC2BCBC4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3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2F7CF6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Synchronize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 왕복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70ADB-B870-4FD7-9D66-5827B1A4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Controller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Tasks·Modules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9D28DB-5F89-4DDE-A55F-225FA8DE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19350"/>
            <a:ext cx="2462213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wrap="square" lIns="133350" tIns="95250" rIns="13335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Execution</a:t>
            </a:r>
          </a:p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PP·모드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F1ED44-6526-4751-8DBE-8E0BB769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그래픽 객체와 컨트롤러 코드 사이에는 동기화 단계가 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A97E83-8658-4E28-8F95-4C2EAD25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971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동기화 방향과 변경 충돌을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33131498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D8D88-3B29-4FAE-8D41-9E03DEDC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C488A-6A27-42F0-8BAE-502B6502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프로그램 포인터 PP와 모션 포인터 MP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177781-B335-4D30-8054-64205664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FD70E0-F227-4698-A298-0922E8B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D1CF2-A076-45E0-9048-7DD2EA37B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PP / MP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174F5-E47A-43C9-A536-E35771DC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논리 실행 위치와 모션 재개 위치는 다르게 볼 수 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12D87-0AE8-4CCC-BE2E-E287781C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FA155-FB56-4C9E-B40D-D9192255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PP: 다음에 실행할 RAPID 문장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MP: 모션 명령의 진행 상태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재시작 전 두 포인터와 로봇 위치 확인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BFAE1-96DD-47F8-961D-E41363DE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753100"/>
            <a:ext cx="666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94752"/>
                </a:solidFill>
                <a:latin typeface="Noto Sans KR"/>
                <a:ea typeface="Noto Sans KR"/>
                <a:cs typeface="Noto Sans KR"/>
              </a:rPr>
              <a:t>포인터를 옮겼다고 로봇 위치가 자동으로 맞춰지는 것은 아니다.</a:t>
            </a:r>
          </a:p>
        </p:txBody>
      </p:sp>
    </p:spTree>
    <p:extLst>
      <p:ext uri="{BB962C8B-B14F-4D97-AF65-F5344CB8AC3E}">
        <p14:creationId xmlns:p14="http://schemas.microsoft.com/office/powerpoint/2010/main" val="3556225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75D446-B689-49B2-82B6-E0E215EA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AFB3-6121-42AD-B58F-C25EC56C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RobotWare 6 · 7 · 8 호환성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00C39-1675-4290-A51A-7E518153B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C653EE-1E03-40B5-B00C-021B0E1B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BBB5F-55C5-44C3-B031-3A2659E1D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D125AD-E3A0-4A0E-ACFB-D7E908C2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공통 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199E28-3DE7-4DBA-9A74-D57CA74D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반드시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567B4-F7A3-4175-907B-0A7079A9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RAPID 핵심 문법과 모션 개념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Task·Module·Routine 구조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RobotStudio 시뮬레이션 흐름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91F3A-1F04-4ED1-B546-E775C747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500"/>
            <a:ext cx="4762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RWS 인증·미디어 타입·경로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지원 옵션과 명령 인자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• 컨트롤러·RobotStudio 버전 조합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8AAFF0-242F-46A2-B77F-678E663D0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483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인터넷 예제보다 대상 버전의 ABB 매뉴얼을 최종 기준으로 삼는다.</a:t>
            </a:r>
          </a:p>
        </p:txBody>
      </p:sp>
    </p:spTree>
    <p:extLst>
      <p:ext uri="{BB962C8B-B14F-4D97-AF65-F5344CB8AC3E}">
        <p14:creationId xmlns:p14="http://schemas.microsoft.com/office/powerpoint/2010/main" val="14287291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A15BE-EFCA-43D7-937C-C024F1B0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36865-D67A-4014-94D0-A1CEE176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자주 만나는 첫 오류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4173B-28D8-48A1-B79F-DA7FE8DA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FE42F-405D-40F4-9C37-7F720F58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030452-1D7B-4BA9-86C7-F9A38A3B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4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BUILD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1127B5-E615-4885-AE03-714E35D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38450"/>
            <a:ext cx="3143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오류 위치보다 한 줄 위의 구조를 먼저 본다.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9EA10-DA92-40DD-9858-54102F84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14500"/>
            <a:ext cx="0" cy="40957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48E24-5FCA-4349-AA12-7435460E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71650"/>
            <a:ext cx="666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세미콜론·ENDIF·ENDPROC 누락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선언되지 않은 데이터와 이름 충돌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• 괄호·인자 순서·선택 인자 표기</a:t>
            </a:r>
          </a:p>
        </p:txBody>
      </p:sp>
    </p:spTree>
    <p:extLst>
      <p:ext uri="{BB962C8B-B14F-4D97-AF65-F5344CB8AC3E}">
        <p14:creationId xmlns:p14="http://schemas.microsoft.com/office/powerpoint/2010/main" val="19746425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CFFD1E-89B2-4AB8-8D5F-EFD32A9F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064A1-3955-4EFF-81A3-59E6CCB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첫 실습: TPWrite부터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928BC-C622-46E2-82F7-972C8D7D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D3120-AECE-4A04-986D-2BC0F245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2F1EC-43AF-4691-8D13-7653565D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43B3DA-8758-4BBB-AF8C-FB1F5FF0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87E97E-44B8-4ECB-AF56-B65578681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DE78A0-0C55-4BAA-B7F0-EA2E4A81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VC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818517-80C5-4B11-A77D-8F7FF7D4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컨트롤러 부팅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0D404-7A48-4996-A879-7DD714A79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EE3838-23F2-4EE0-9CE4-0177B379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316CA-109D-47E5-BABD-E6705482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Module 추가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435ACB-EB26-4BAC-AA19-5F99FF605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main 작성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B07B02-4657-4FAB-8436-2A47A05C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B967B-E2B9-4023-8828-FA781498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84A6F3-3736-4EF8-8BBC-ECA09AC1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Build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2B6F7-F026-4C35-8761-2A813F2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오류 0개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CBF264-8A64-4C53-9424-31962E47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F6C576-8472-4109-90F9-6BEED462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C4C0C-3C5D-4A7E-9B39-86F616B36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18777-E701-4978-B848-98FFB40C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Event Log 확인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9B3EF9-63ED-48B6-9E90-DE533B6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 없이 실행 흐름과 디버깅부터 익힌다.</a:t>
            </a:r>
          </a:p>
        </p:txBody>
      </p:sp>
    </p:spTree>
    <p:extLst>
      <p:ext uri="{BB962C8B-B14F-4D97-AF65-F5344CB8AC3E}">
        <p14:creationId xmlns:p14="http://schemas.microsoft.com/office/powerpoint/2010/main" val="119429857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B2C930-C338-4BBD-A542-2AAA1E7D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FEA941-779D-491F-B79F-0B564474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1FCE9-7B24-4330-B786-49FF0889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RAPID, RobotStudio, RobotWare를 각각 한 문장으로 설명할 수 있나요?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63B81-9F27-4A9F-93C6-21A5A5D7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8D56DF-13FD-4051-AA7D-427DDCE6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21BD29-36ED-4BFE-8B00-6283BE43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9064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RAPID=언어 · RobotStudio=개발/시뮬레이션 · RobotWare=컨트롤러 실행 플랫폼</a:t>
            </a:r>
          </a:p>
        </p:txBody>
      </p:sp>
    </p:spTree>
    <p:extLst>
      <p:ext uri="{BB962C8B-B14F-4D97-AF65-F5344CB8AC3E}">
        <p14:creationId xmlns:p14="http://schemas.microsoft.com/office/powerpoint/2010/main" val="18790399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4B766-1CDD-41B8-A6C6-ADBB3CE4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52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49039-EE98-4826-8BA5-58EC0F20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CHECK 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89B4E1-9983-4BFE-860E-137BABA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668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왜 main에 모든 코드를 넣지 않는 편이 좋은가요?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BD33E-BC4B-48F4-912B-1BC6D831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33750"/>
            <a:ext cx="90487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118D4-B8CA-4B11-8B85-6D300DC1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85725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노트에 답을 적고, 다음 장으로 가기 전에 이유를 말해 보세요.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F757B-0381-4172-9BEE-72BA7B61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00625"/>
            <a:ext cx="80391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114300" tIns="76200" rIns="1143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책임 분리 · 재사용 · 테스트 · 오류 복구가 쉬워진다.</a:t>
            </a:r>
          </a:p>
        </p:txBody>
      </p:sp>
    </p:spTree>
    <p:extLst>
      <p:ext uri="{BB962C8B-B14F-4D97-AF65-F5344CB8AC3E}">
        <p14:creationId xmlns:p14="http://schemas.microsoft.com/office/powerpoint/2010/main" val="126974535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BB202-7358-491A-96E8-368DDEF7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90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31BD37-EA63-47B8-A6CB-519AAC40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1104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다음 학습 순서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B6783E-921F-4576-AEDB-8FA0EFC4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1428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8DBF76-7422-449A-85EA-B1796E60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F7B969-4062-44CE-8495-EA91952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10287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10121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935E0-B0CA-4D9A-BAB3-3D549C8D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912E5-B495-496F-8006-FD2B366C9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지금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1EE42-B9DB-493A-B264-8AB22FBE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문법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89BC9-4992-49E4-90E6-408780AB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작은 로직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96BC0-33EA-43EC-946A-428C1A69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C0510-7249-4217-AED9-74DB2EBA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다음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D95265-81E8-49A5-8D3A-71B9E5C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모션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D37280-403B-4B86-BA35-DF70CE7C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좌표·TCP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50586-5973-4854-A58D-4D24CC38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D0639-2B76-4378-9091-0B6E796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그다음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2BB398-A77F-444E-8E3A-6DC74005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통신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D46CFA-1556-42CC-B681-2EF3840F2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TCP·RWS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6F448D-B23A-4A86-9B61-BDC35CED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32194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62C3B2-5B1D-4616-83D3-E9A6C24A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543175"/>
            <a:ext cx="114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마지막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F305E-6167-4053-8794-6534B385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3733800"/>
            <a:ext cx="200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통합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B80C53-893D-465B-BAD0-92249C4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4238625"/>
            <a:ext cx="2000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Python 서버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17476-0199-4E5D-AFAC-1AEC6344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197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Virtual Controller에서 검증한 뒤 단계적으로 실제 환경에 승격한다.</a:t>
            </a:r>
          </a:p>
        </p:txBody>
      </p:sp>
    </p:spTree>
    <p:extLst>
      <p:ext uri="{BB962C8B-B14F-4D97-AF65-F5344CB8AC3E}">
        <p14:creationId xmlns:p14="http://schemas.microsoft.com/office/powerpoint/2010/main" val="163350490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3F551-D8B4-437E-9126-D984F973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571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2F7CF6"/>
                </a:solidFill>
                <a:latin typeface="Noto Sans KR"/>
                <a:ea typeface="Noto Sans KR"/>
                <a:cs typeface="Noto Sans KR"/>
              </a:rPr>
              <a:t>01 · RAPID 기초와 RobotStudio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73E94-D548-4268-B85E-5D85C9AF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0572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읽을 수 있는 코드가</a:t>
            </a:r>
          </a:p>
          <a:p xmlns:a="http://schemas.openxmlformats.org/drawingml/2006/main">
            <a:pPr algn="l">
              <a:def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복구할 수 있는 코드다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A2545-713D-4E1A-8F90-C1892C3F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57550"/>
            <a:ext cx="10001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명확한 이름, 짧은 루틴, 실패 경로, 버전 기준을 함께 설계한다.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39A56B-DA4E-43DC-ABDB-936B0A19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0"/>
            <a:ext cx="933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CF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87E05-A11F-4C01-A5FD-341B4FCE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216"/>
                </a:solidFill>
                <a:latin typeface="Noto Sans KR"/>
                <a:ea typeface="Noto Sans KR"/>
                <a:cs typeface="Noto Sans KR"/>
              </a:rPr>
              <a:t>NEXT · 모션, 좌표계, I/O와 오류 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4FD30-5281-4832-A2A5-7F9DCA9F0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F6670"/>
                </a:solidFill>
                <a:latin typeface="Noto Sans KR"/>
                <a:ea typeface="Noto Sans KR"/>
                <a:cs typeface="Noto Sans KR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0975113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2026-08-09T16:29:38.9130000Z</dcterms:created>
  <dcterms:modified xsi:type="dcterms:W3CDTF">2026-08-09T16:29:38.9130000Z</dcterms:modified>
</coreProperties>
</file>