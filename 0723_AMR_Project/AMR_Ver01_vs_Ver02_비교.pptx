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331720"/>
            <a:ext cx="1463040" cy="73152"/>
          </a:xfrm>
          <a:prstGeom prst="rect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AMR 연동 방식 비교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 i="0">
                <a:solidFill>
                  <a:srgbClr val="B9C6DE"/>
                </a:solidFill>
                <a:latin typeface="맑은 고딕"/>
                <a:ea typeface="맑은 고딕"/>
                <a:cs typeface="맑은 고딕"/>
              </a:rPr>
              <a:t>Final_Ver01  vs  Final_Ver02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8A99B8"/>
                </a:solidFill>
                <a:latin typeface="맑은 고딕"/>
                <a:ea typeface="맑은 고딕"/>
                <a:cs typeface="맑은 고딕"/>
              </a:rPr>
              <a:t>0723_AMR_Project 자동 생산 오케스트레이션 - 출고 컨베이어 게이팅 방식 비교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2026-08-07  ·  팀 회의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배경 - 왜 두 가지 버전이 존재하는가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875">
            <a:solidFill>
              <a:srgbClr val="6B7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1" i="0">
                <a:solidFill>
                  <a:srgbClr val="0B1220"/>
                </a:solidFill>
                <a:latin typeface="맑은 고딕"/>
                <a:ea typeface="맑은 고딕"/>
                <a:cs typeface="맑은 고딕"/>
              </a:rPr>
              <a:t>AMR의 실제 제약 (AMR_Arduino.ino 확인 결과)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AMR(Arduino UNO R4 + Omron LD-90)은 서버가 “cycle” 명령 1회를 보내면, 3→4→3→5→4→5 6단계 왕복 전체(각 단계 컨베이어 정/역구동 포함)를 완전히 자율로 수행합니다.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펌웨어에 하드코딩된 고정 시퀀스이며, 담당자 역량 문제로 이 시퀀스 도중에 서버가 개별 구간을 다시 설계/제어하기는 어려운 상황입니다.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따라서 “AMR을 어떻게 통제할 것인가”가 아니라 “3abb/5abb의 출고 컨베이어를 언제 돌릴 것인가”가 실제로 설계가 갈리는 지점입니다.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두 버전의 차이는 이 한 가지 질문에서 시작합니다: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69080"/>
            <a:ext cx="11277295" cy="1554480"/>
          </a:xfrm>
          <a:prstGeom prst="roundRect">
            <a:avLst>
              <a:gd name="adj" fmla="val 6000"/>
            </a:avLst>
          </a:prstGeom>
          <a:solidFill>
            <a:srgbClr val="FDF7E9"/>
          </a:solidFill>
          <a:ln w="15875">
            <a:solidFill>
              <a:srgbClr val="C78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10637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C78A0A"/>
                </a:solidFill>
                <a:latin typeface="맑은 고딕"/>
                <a:ea typeface="맑은 고딕"/>
                <a:cs typeface="맑은 고딕"/>
              </a:rPr>
              <a:t>“3abb/5abb가 조립을 끝냈을 때, AMR이 실제로 도착했는지 확인하고 컨베이어를 돌릴 것인가,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C78A0A"/>
                </a:solidFill>
                <a:latin typeface="맑은 고딕"/>
                <a:ea typeface="맑은 고딕"/>
                <a:cs typeface="맑은 고딕"/>
              </a:rPr>
              <a:t>아니면 확인 없이 조립 완료 즉시 돌릴 것인가?”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0723_AMR_Project · Final_Ver01 vs Final_Ver02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아키텍처 (Ver01·Ver02 동일)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7295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87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1945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0B1220"/>
                </a:solidFill>
                <a:latin typeface="맑은 고딕"/>
                <a:ea typeface="맑은 고딕"/>
                <a:cs typeface="맑은 고딕"/>
              </a:rPr>
              <a:t>4abb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17320"/>
            <a:ext cx="825977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생산 전체 통틀어 Start 1회만 전송 - PLC 센서 감시·적재 무한 대기 상태로 진입. 두 버전 모두 변경 없음.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0360"/>
            <a:ext cx="11277295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87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1945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0B1220"/>
                </a:solidFill>
                <a:latin typeface="맑은 고딕"/>
                <a:ea typeface="맑은 고딕"/>
                <a:cs typeface="맑은 고딕"/>
              </a:rPr>
              <a:t>3abb / 5abb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017520"/>
            <a:ext cx="825977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Start 1회 = 완전히 독립된 차량 2대 조립(Press/프레스는 반복문 밖에서 1회만, 나머지는 차량마다 2회). 출고 방식(컨베이어를 “언제” 돌리는지)만 두 버전이 다름.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277295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87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21945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0B1220"/>
                </a:solidFill>
                <a:latin typeface="맑은 고딕"/>
                <a:ea typeface="맑은 고딕"/>
                <a:cs typeface="맑은 고딕"/>
              </a:rPr>
              <a:t>AMR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617720"/>
            <a:ext cx="825977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“cycle” 명령 1회로 6단계 왕복 전체를 자율 수행. 이후 서버는 개별 이동 명령을 보내지 않음. 두 버전 모두 AMR 펌웨어는 동일 - 코드 변경 없음.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0723_AMR_Project · Final_Ver01 vs Final_Ver02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Final_Ver01 - AMR 완전 자율 전제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25603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조립이 끝나면 AMR 도착 여부와 무관하게 즉시 출고 컨베이어를 돌립니다.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3abb / 5abb
조립 완료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60266" y="2340863"/>
            <a:ext cx="384048" cy="256032"/>
          </a:xfrm>
          <a:prstGeom prst="rightArrow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4314" y="1874519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출고 컨베이어
즉시 발동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47380" y="2340863"/>
            <a:ext cx="384048" cy="256032"/>
          </a:xfrm>
          <a:prstGeom prst="rightArrow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31428" y="1874519"/>
            <a:ext cx="3503066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A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“Done” 응답
서버는 완료로 인식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서버가 하는 일은 단순합니다: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1277295" cy="1737360"/>
          </a:xfrm>
          <a:prstGeom prst="roundRect">
            <a:avLst>
              <a:gd name="adj" fmla="val 6000"/>
            </a:avLst>
          </a:prstGeom>
          <a:solidFill>
            <a:srgbClr val="ECF9FC"/>
          </a:solidFill>
          <a:ln w="15875">
            <a:solidFill>
              <a:srgbClr val="0EA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4abb Start(최초 1회) → 3abb / 5abb에 Start, amr에 “cycle”을 각각 한 번씩 전송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3abb·5abb의 “Done”만 기다림 - AMR 쪽 완료 여부는 서버가 추적하지 않음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AMR 개별 다리(leg)별 명령/응답 처리 로직 없음 (RAPID·서버 모두 최소 변경)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0723_AMR_Project · Final_Ver01 vs Final_Ver02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Final_Ver01 - 장단점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25603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01487" cy="4206240"/>
          </a:xfrm>
          <a:prstGeom prst="roundRect">
            <a:avLst>
              <a:gd name="adj" fmla="val 6000"/>
            </a:avLst>
          </a:prstGeom>
          <a:solidFill>
            <a:srgbClr val="F1FAF5"/>
          </a:solidFill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3007" y="1280160"/>
            <a:ext cx="5501487" cy="4206240"/>
          </a:xfrm>
          <a:prstGeom prst="roundRect">
            <a:avLst>
              <a:gd name="adj" fmla="val 6000"/>
            </a:avLst>
          </a:prstGeom>
          <a:solidFill>
            <a:srgbClr val="FDF3F2"/>
          </a:solidFill>
          <a:ln w="15875">
            <a:solidFill>
              <a:srgbClr val="D14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04428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22A06B"/>
                </a:solidFill>
                <a:latin typeface="맑은 고딕"/>
                <a:ea typeface="맑은 고딕"/>
                <a:cs typeface="맑은 고딕"/>
              </a:rPr>
              <a:t>장점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구조가 단순함 - 서버는 Start/cycle 전송 후 Done만 대기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AMR이 보내는 로그·이벤트 문자열 포맷에 전혀 의존하지 않음 (펌웨어가 업데이트돼도 서버 영향 없음)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RAPID 코드가 짧고 디버깅이 쉬움 (추가 대기 로직 없음)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자동화 시뮬레이션 3회 연속 통과(0 failures) - 검증된 단순 경로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일정이 촉박한 상황에서 배포 리스크가 가장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1444752"/>
            <a:ext cx="504428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D14B3F"/>
                </a:solidFill>
                <a:latin typeface="맑은 고딕"/>
                <a:ea typeface="맑은 고딕"/>
                <a:cs typeface="맑은 고딕"/>
              </a:rPr>
              <a:t>단점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출고 컨베이어가 AMR의 실제 물리적 도착을 확인하지 않고 조립 완료 즉시 발동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이론상 AMR이 예상보다 늦게 도착하면 컨베이어가 먼저 돌아가 있는 상황이 발생할 수 있음 (다만 AMR이 각 정거장에서 자체적으로 일정 시간 컨베이어를 구동하며 대기하므로 실질 위험은 낮은 편)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서버가 AMR의 개별 상태(도착/정지/경로 이탈 등)를 인지하지 못함 - 문제 발생 시 서버 로그만으로는 원인 파악이 어려움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0723_AMR_Project · Final_Ver01 vs Final_Ver02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Final_Ver02 - AMR 이벤트 기반 도착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25603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AMR 펌웨어가 원래 보내고 있던 이벤트를 서버가 읽어서, 실제 도착을 확인한 뒤에만 컨베이어를 돌립니다.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992111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3abb / 5abb
조립 완료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49311" y="2226564"/>
            <a:ext cx="329184" cy="256032"/>
          </a:xfrm>
          <a:prstGeom prst="rightArrow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78495" y="1737360"/>
            <a:ext cx="1992111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ReadyForPickup
전송 후 대기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70606" y="2226564"/>
            <a:ext cx="329184" cy="256032"/>
          </a:xfrm>
          <a:prstGeom prst="rightArrow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9790" y="1737360"/>
            <a:ext cx="1992111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서버: AMR의
DOCK_WAIT_STARTED
이벤트 확인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91901" y="2226564"/>
            <a:ext cx="329184" cy="256032"/>
          </a:xfrm>
          <a:prstGeom prst="rightArrow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1085" y="1737360"/>
            <a:ext cx="1992111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AmrArrived
전달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3196" y="2226564"/>
            <a:ext cx="329184" cy="256032"/>
          </a:xfrm>
          <a:prstGeom prst="rightArrow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42380" y="1737360"/>
            <a:ext cx="1992111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컨베이어 발동
ConveyDone / 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46120"/>
            <a:ext cx="11277295" cy="822960"/>
          </a:xfrm>
          <a:prstGeom prst="roundRect">
            <a:avLst>
              <a:gd name="adj" fmla="val 6000"/>
            </a:avLst>
          </a:prstGeom>
          <a:solidFill>
            <a:srgbClr val="F3EFFC"/>
          </a:solidFill>
          <a:ln w="15875">
            <a:solidFill>
              <a:srgbClr val="7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1">
                <a:solidFill>
                  <a:srgbClr val="7C5CE0"/>
                </a:solidFill>
                <a:latin typeface="맑은 고딕"/>
                <a:ea typeface="맑은 고딕"/>
                <a:cs typeface="맑은 고딕"/>
              </a:rPr>
              <a:t>핵심: AMR 펌웨어는 원래도 각 정거장 도착마다 EVENT DOCK_WAIT_STARTED station="MACRO_ST1" 같은 이벤트를 admin 소켓으로 보내고 있었음 - Ver01은 이를 로그로만 찍고 버렸지만, Ver02는 이 이벤트를 실제로 파싱해서 활용함 (펌웨어 변경 불필요).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51960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875">
            <a:solidFill>
              <a:srgbClr val="7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107286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서버 백그라운드 스레드(스테이션당 1개)가 “ReadyForPickup” 큐와 “DOCK_WAIT_STARTED” 큐를 계속 지켜보다가, 둘 다 준비되면 그 즉시 “AmrArrived”를 릴레이함 - 어느 신호가 먼저 와도 매칭됨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자동 생산 루프 자체는 여전히 단순함 (Start/cycle 전송 후 Done 대기) - 게이팅은 완전히 별도 로직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0723_AMR_Project · Final_Ver01 vs Final_Ver02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Final_Ver02 - 장단점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25603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01487" cy="4206240"/>
          </a:xfrm>
          <a:prstGeom prst="roundRect">
            <a:avLst>
              <a:gd name="adj" fmla="val 6000"/>
            </a:avLst>
          </a:prstGeom>
          <a:solidFill>
            <a:srgbClr val="F1FAF5"/>
          </a:solidFill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3007" y="1280160"/>
            <a:ext cx="5501487" cy="4206240"/>
          </a:xfrm>
          <a:prstGeom prst="roundRect">
            <a:avLst>
              <a:gd name="adj" fmla="val 6000"/>
            </a:avLst>
          </a:prstGeom>
          <a:solidFill>
            <a:srgbClr val="FDF3F2"/>
          </a:solidFill>
          <a:ln w="15875">
            <a:solidFill>
              <a:srgbClr val="D14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04428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22A06B"/>
                </a:solidFill>
                <a:latin typeface="맑은 고딕"/>
                <a:ea typeface="맑은 고딕"/>
                <a:cs typeface="맑은 고딕"/>
              </a:rPr>
              <a:t>장점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출고 컨베이어가 AMR의 실제 도착 확인 후에만 동작 - 이론적 안전성이 Ver01보다 높음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AMR 펌웨어를 전혀 수정하지 않음 - 이미 보내고 있던 이벤트를 서버가 읽기만 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서버 로그에 AMR의 실시간 상태(어느 정거장에 있는지)가 반영됨 - 운영 중 문제 파악이 쉬움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향후 AMR과 더 완전한 양방향 통신으로 확장할 때의 기반이 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자동화 시뮬레이션 4회 연속 통과(0 failures) - “AmrArrived가 실제 도착 이벤트보다 먼저 나간 적이 없음”까지 직접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1444752"/>
            <a:ext cx="504428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D14B3F"/>
                </a:solidFill>
                <a:latin typeface="맑은 고딕"/>
                <a:ea typeface="맑은 고딕"/>
                <a:cs typeface="맑은 고딕"/>
              </a:rPr>
              <a:t>단점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구조가 더 복잡함 (스테이션별 백그라운드 매칭 스레드, 두 개의 독립 이벤트 큐)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AMR 펌웨어가 보내는 로그 문자열 포맷(EVENT DOCK_WAIT_STARTED station=...)에 의존 - 펌웨어가 업데이트되어 포맷이 바뀌면 서버가 조용히 놓칠 수 있음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RAPID 쪽에 SocketReceive 재호출(대기 지점) 추가 - 그 구간 동안 다른 명령 처리 불가 (단일 태스크 구조상 감수 가능한 수준이지만 구조는 더 복잡해짐)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실제 하드웨어(로봇·AMR)로는 아직 검증하지 못함 - 소프트웨어 시뮬레이션 수준의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0723_AMR_Project · Final_Ver01 vs Final_Ver02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한눈에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096"/>
                <a:gridCol w="4172599"/>
                <a:gridCol w="4172599"/>
              </a:tblGrid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anchor="ctr" marL="101600" marR="101600" marT="50800" marB="508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Final_Ver01</a:t>
                      </a:r>
                    </a:p>
                  </a:txBody>
                  <a:tcPr anchor="ctr" marL="101600" marR="101600" marT="50800" marB="508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Final_Ver02</a:t>
                      </a:r>
                    </a:p>
                  </a:txBody>
                  <a:tcPr anchor="ctr" marL="101600" marR="101600" marT="50800" marB="50800">
                    <a:solidFill>
                      <a:srgbClr val="0B1220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출고 컨베이어 발동 조건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조립 완료 즉시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AMR 도착 이벤트 확인 후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AMR 펌웨어 변경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불필요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불필요 (기존 이벤트 재활용)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서버/RAPID 로직 복잡도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낮음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 (매칭 스레드 + 이벤트 파싱)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AMR 상태 실시간 가시성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있음 (정거장 단위)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AMR 이벤트 포맷 의존성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있음 (펌웨어 로그 포맷)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 시뮬레이션 결과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3회 연속 통과 (0 failures)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4회 연속 통과 (0 failures)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하드웨어 검증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미완료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미완료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권장 사용 시점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배포 (일정 촉박 시)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 이후 전환 검토</a:t>
                      </a:r>
                    </a:p>
                  </a:txBody>
                  <a:tcPr anchor="ctr" marL="101600" marR="101600" marT="50800" marB="5080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자동화 시뮬레이션 = 실제 RAPID/Python 코드를 그대로 사용한 가짜 TCP 로봇·AMR 상대 end-to-end 테스트 (실제 하드웨어 아님)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현황과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501487" cy="4023360"/>
          </a:xfrm>
          <a:prstGeom prst="roundRect">
            <a:avLst>
              <a:gd name="adj" fmla="val 6000"/>
            </a:avLst>
          </a:prstGeom>
          <a:solidFill>
            <a:srgbClr val="F1FAF5"/>
          </a:solidFill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280160"/>
            <a:ext cx="5501487" cy="4023360"/>
          </a:xfrm>
          <a:prstGeom prst="roundRect">
            <a:avLst>
              <a:gd name="adj" fmla="val 6000"/>
            </a:avLst>
          </a:prstGeom>
          <a:solidFill>
            <a:srgbClr val="FDF3F2"/>
          </a:solidFill>
          <a:ln w="15875">
            <a:solidFill>
              <a:srgbClr val="D14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5044287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22A06B"/>
                </a:solidFill>
                <a:latin typeface="맑은 고딕"/>
                <a:ea typeface="맑은 고딕"/>
                <a:cs typeface="맑은 고딕"/>
              </a:rPr>
              <a:t>장점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실제 RAPID(.mod)/Python 코드를 그대로 불러와 동작시키는 end-to-end 자동화 테스트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가짜 TCP 로봇·AMR 엔드포인트가 실제 프로토콜(문서화된 SocketSend/Receive, AMR 이벤트 포맷)을 그대로 재현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Ver01: 3회 연속, Ver02: 4회 연속 모두 0 failures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Ver02는 “AmrArrived가 실제 DOCK_WAIT_STARTED보다 먼저 나가지 않는다”는 핵심 안전 조건까지 타임라인으로 직접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607" y="1444752"/>
            <a:ext cx="5044287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D14B3F"/>
                </a:solidFill>
                <a:latin typeface="맑은 고딕"/>
                <a:ea typeface="맑은 고딕"/>
                <a:cs typeface="맑은 고딕"/>
              </a:rPr>
              <a:t>단점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실제 ABB 로봇 컨트롤러·실제 AMR 하드웨어로는 아직 테스트하지 못함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3abb/5abb 조립 소요 시간과 AMR의 실제 왕복 사이클 타임을 현장에서 실측 비교한 적이 없음 (Ver01의 실질 위험도를 좌우하는 값)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Ver02가 의존하는 AMR 이벤트 문자열 포맷이 앞으로도 유지될지 AMR 담당자 확인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0723_AMR_Project · Final_Ver01 vs Final_Ver02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권장안 및 다음 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55767" cy="2103120"/>
          </a:xfrm>
          <a:prstGeom prst="roundRect">
            <a:avLst>
              <a:gd name="adj" fmla="val 6000"/>
            </a:avLst>
          </a:prstGeom>
          <a:solidFill>
            <a:srgbClr val="ECF9FC"/>
          </a:solidFill>
          <a:ln w="15875">
            <a:solidFill>
              <a:srgbClr val="0EA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9071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0EA5C4"/>
                </a:solidFill>
                <a:latin typeface="맑은 고딕"/>
                <a:ea typeface="맑은 고딕"/>
                <a:cs typeface="맑은 고딕"/>
              </a:rPr>
              <a:t>지금 당장 배포 → Ver01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90712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일정이 촉박한 상황에서 리스크가 가장 낮은 검증된 단순 경로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AMR 자체가 정거장마다 컨베이어를 일정 시간 구동하며 대기하므로 실질적 충돌 위험은 낮다고 판단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280160"/>
            <a:ext cx="5455767" cy="2103120"/>
          </a:xfrm>
          <a:prstGeom prst="roundRect">
            <a:avLst>
              <a:gd name="adj" fmla="val 6000"/>
            </a:avLst>
          </a:prstGeom>
          <a:solidFill>
            <a:srgbClr val="F3EFFC"/>
          </a:solidFill>
          <a:ln w="15875">
            <a:solidFill>
              <a:srgbClr val="7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1463040"/>
            <a:ext cx="49071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7C5CE0"/>
                </a:solidFill>
                <a:latin typeface="맑은 고딕"/>
                <a:ea typeface="맑은 고딕"/>
                <a:cs typeface="맑은 고딕"/>
              </a:rPr>
              <a:t>안정화 이후 전환 → Ver02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1965960"/>
            <a:ext cx="490712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이미 구현·검증 완료 상태로 대기 중 - 전환 시 추가 개발 불필요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조립 시간과 AMR 대기 시간이 실측상 겹치는 사례가 확인되면 전환 권장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77295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875">
            <a:solidFill>
              <a:srgbClr val="6B7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0B1220"/>
                </a:solidFill>
                <a:latin typeface="맑은 고딕"/>
                <a:ea typeface="맑은 고딕"/>
                <a:cs typeface="맑은 고딕"/>
              </a:rPr>
              <a:t>회의에서 논의가 필요한 사항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3abb/5abb 조립 소요 시간 vs AMR 사이클 타임 실측 데이터 확보 방법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AMR 담당자에게 EVENT 이벤트 포맷(DOCK_WAIT_STARTED 등) 고정 여부 확인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4abb “센서 신호 전 자동 이동” 이슈 - 자체 수정했다고 전달받았으나 재검증 권장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0723_AMR_Project · Final_Ver01 vs Final_Ver02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A93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